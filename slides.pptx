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Simon:</a:t>
            </a:r>
          </a:p>
          <a:p>
            <a:r>
              <a:t>- Quick intros and welcome to DevConf.US 2026.</a:t>
            </a:r>
          </a:p>
          <a:p>
            <a:r>
              <a:t>- Supply chain security has shifted from generating evidence to actually verifying and enforcing policy.</a:t>
            </a:r>
          </a:p>
          <a:p>
            <a:r>
              <a:t>- Today we'll show how to turn supply chain evidence into something that actually blocks bad artifacts.</a:t>
            </a:r>
          </a:p>
          <a:p>
            <a:r>
              <a:t>- Structure: problem, solution, four live demos, wrap-up.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Simon:</a:t>
            </a:r>
          </a:p>
          <a:p>
            <a:r>
              <a:t>- Over the last few years, build systems got incredibly good at producing data (signatures, SBOMs, scans).</a:t>
            </a:r>
          </a:p>
          <a:p>
            <a:r>
              <a:t>- However, almost nobody is actually doing anything with it at release time. It sits in registry annotations or database tables.</a:t>
            </a:r>
          </a:p>
          <a:p>
            <a:r>
              <a:t>- This is what we call 'passive compliance.'</a:t>
            </a:r>
          </a:p>
          <a:p>
            <a:r>
              <a:t>- In days, the EU CRA (Cyber Resilience Act) comes into force. The FDA already actively rejects devices with missing or unvalidated SBOMs. This is an operational crisis, not just theoretical.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Cuiping:</a:t>
            </a:r>
          </a:p>
          <a:p>
            <a:r>
              <a:t>- Walk through each scenario to show how 'passive' checks fail.</a:t>
            </a:r>
          </a:p>
          <a:p>
            <a:r>
              <a:t>- 1. SBOM: It was technically valid SPDX, but generated before the final build step. 3 components missing.</a:t>
            </a:r>
          </a:p>
          <a:p>
            <a:r>
              <a:t>- 2. SLSA: It was signed, but built on a dev laptop rather than the trusted build system.</a:t>
            </a:r>
          </a:p>
          <a:p>
            <a:r>
              <a:t>- 3. Vulnerability Scan: The scan ran on Tuesday and was green, but a critical CVE dropped Wednesday before deployment.</a:t>
            </a:r>
          </a:p>
          <a:p>
            <a:r>
              <a:t>- 4. License: All dependencies were scanned, but a developer pulled in an AGPL transitive dependency, exposing proprietary IP.</a:t>
            </a:r>
          </a:p>
          <a:p>
            <a:r>
              <a:t>- Handoff to Simon: 'Simon, bring us back to the big picture and show how we block these active failures.'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Simon:</a:t>
            </a:r>
          </a:p>
          <a:p>
            <a:r>
              <a:t>- 'Think zero-trust, but for software artifacts instead of network traffic.'</a:t>
            </a:r>
          </a:p>
          <a:p>
            <a:r>
              <a:t>- Active enforcement means we place physical policy evaluation gates directly in the promotion pipelines.</a:t>
            </a:r>
          </a:p>
          <a:p>
            <a:r>
              <a:t>- Failed checks don't generate email warnings that get ignored; they throw non-zero exits that stop the pipeline.</a:t>
            </a:r>
          </a:p>
          <a:p>
            <a:r>
              <a:t>- This slide establishes our architectural philosophy.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Cuiping:</a:t>
            </a:r>
          </a:p>
          <a:p>
            <a:r>
              <a:t>- Point it at an image and a policy. It tells you pass or fail, and why.</a:t>
            </a:r>
          </a:p>
          <a:p>
            <a:r>
              <a:t>- Not just 'is it signed' but 'was it built by a system you trust, are there CVEs above your threshold, does the SBOM check out.'</a:t>
            </a:r>
          </a:p>
          <a:p>
            <a:r>
              <a:t>- It generates a signed VSA (Verification Summary Attestation) which proves what policy was executed and the result, which downstream deployment tools can 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Simon:</a:t>
            </a:r>
          </a:p>
          <a:p>
            <a:r>
              <a:t>- This is the technical sequence. Conforma fetches the attestations first.</a:t>
            </a:r>
          </a:p>
          <a:p>
            <a:r>
              <a:t>- It verifies the signatures, checking cosign or sigstore keys. It then loads policies written in OPA/Rego.</a:t>
            </a:r>
          </a:p>
          <a:p>
            <a:r>
              <a:t>- Finally, instead of just logging results, it produces a signed record - the VSA (Verification Summary Attestation).</a:t>
            </a:r>
          </a:p>
          <a:p>
            <a:r>
              <a:t>- A downstream Kubernetes admission controller or gitops tool can look at this single VSA to immediately allow or block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Cuiping:</a:t>
            </a:r>
          </a:p>
          <a:p>
            <a:r>
              <a:t>- These are the real-world controls we enforce inside Conforma.</a:t>
            </a:r>
          </a:p>
          <a:p>
            <a:r>
              <a:t>- Look at the table on the left: We verify the builders, the CVEs, the licensing, the SBOM completeness, SLSA level, source correlation, and required security task completion.</a:t>
            </a:r>
          </a:p>
          <a:p>
            <a:r>
              <a:t>- On the right, see how simple this is to configure. The '@redhat' preset policy is included, and we define CVE thresholds with simple `ruleData` lists.</a:t>
            </a:r>
          </a:p>
          <a:p>
            <a:r>
              <a:t>- Also, note that Conforma is not limited to container images — it can validate arbitrary inputs using `ec validate input`.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Simon:</a:t>
            </a:r>
          </a:p>
          <a:p>
            <a:r>
              <a:t>- Look at the Tekton task code on the left. The `ec` tool runs standard validation logic.</a:t>
            </a:r>
          </a:p>
          <a:p>
            <a:r>
              <a:t>- The most critical parameter is the `--strict` flag. Without this, it's just advisory.</a:t>
            </a:r>
          </a:p>
          <a:p>
            <a:r>
              <a:t>- With strict mode, any violation halts the pipeline with a non-zero exit code.</a:t>
            </a:r>
          </a:p>
          <a:p>
            <a:r>
              <a:t>- This ensures no broken builds sneak into promotion phases.</a:t>
            </a:r>
          </a:p>
          <a:p>
            <a:r>
              <a:t>- Transition: 'Now let's step out of slides and see how this works in practice. Cuiping, show them what this looks like.'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Cuiping:</a:t>
            </a:r>
          </a:p>
          <a:p>
            <a:r>
              <a:t>- We're using the production CLI and real assets.</a:t>
            </a:r>
          </a:p>
          <a:p>
            <a:r>
              <a:t>- The Golden Image we use is a real product container image built within Konflux, representing a secure supply chain baseline.</a:t>
            </a:r>
          </a:p>
          <a:p>
            <a:r>
              <a:t>- Now we will transition into our live terminals for Demo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Cuiping:</a:t>
            </a:r>
          </a:p>
          <a:p>
            <a:r>
              <a:t>- This demo shows that Conforma is more than an image signature checker. It validates any structured data.</a:t>
            </a:r>
          </a:p>
          <a:p>
            <a:r>
              <a:t>- On the left, we have a sample animal config file and a simple Rego rule that disallows felines.</a:t>
            </a:r>
          </a:p>
          <a:p>
            <a:r>
              <a:t>- If we execute the CLI command shown on the right, it immediately flags 'Luna' the cat and returns a violation.</a:t>
            </a:r>
          </a:p>
          <a:p>
            <a:r>
              <a:t>- We show how metadata annotations like `short_name` define human-readable error reports.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Simon:</a:t>
            </a:r>
          </a:p>
          <a:p>
            <a:r>
              <a:t>- This is the technical core of our session. 'Signed doesn't mean trusted.'</a:t>
            </a:r>
          </a:p>
          <a:p>
            <a:r>
              <a:t>- In the second command, we feed Conforma a component JSON that claims the container came from a malicious repo: 'miscreant/mischief'.</a:t>
            </a:r>
          </a:p>
          <a:p>
            <a:r>
              <a:t>- Even though the container's signature is 100% valid, Conforma reads the signed provenance inside the OCI registry, sees it actually came from 'conforma/golden-container', flags the mismatch, and blocks the build.</a:t>
            </a:r>
          </a:p>
          <a:p>
            <a:r>
              <a:t>- This blocks advanced supply chain threats where attackers attempt to slide malicious sources under clean container builds.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Simon:</a:t>
            </a:r>
          </a:p>
          <a:p>
            <a:r>
              <a:t>- This demo addresses a major operational pain: 'One size doesn't fit all.'</a:t>
            </a:r>
          </a:p>
          <a:p>
            <a:r>
              <a:t>- The central security team can write a single, hard-to-bypass rule (like restricting Git source origins).</a:t>
            </a:r>
          </a:p>
          <a:p>
            <a:r>
              <a:t>- But instead of hardcoding allowed organizations, we read the parameter from `ruleData`.</a:t>
            </a:r>
          </a:p>
          <a:p>
            <a:r>
              <a:t>- Product teams can customize their allowed orgs inside their own local `policy.yaml` file without altering the core policy logic.</a:t>
            </a:r>
          </a:p>
          <a:p>
            <a:r>
              <a:t>- This gives developers a tunable knob while maintaining central governance.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Cuiping:</a:t>
            </a:r>
          </a:p>
          <a:p>
            <a:r>
              <a:t>- This demo introduces our favorite feature for pipeline operations: automated grace periods.</a:t>
            </a:r>
          </a:p>
          <a:p>
            <a:r>
              <a:t>- When you introduce new compliance requirements, you usually break everyone's builds. This leads to team friction.</a:t>
            </a:r>
          </a:p>
          <a:p>
            <a:r>
              <a:t>- With `effective_on`, you can write a rule and set the date 30 days in the future.</a:t>
            </a:r>
          </a:p>
          <a:p>
            <a:r>
              <a:t>- Today, it reports as a warning, allowing the pipeline to succeed. But after that date, it automatically becomes a hard failure.</a:t>
            </a:r>
          </a:p>
          <a:p>
            <a:r>
              <a:t>- This gives developers a self-serve warning period to fix issues, avoiding manual notification overhead.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Simon:</a:t>
            </a:r>
          </a:p>
          <a:p>
            <a:r>
              <a:t>- We have closed the loop. Those four red 'X' failure scenarios from slide 3 are completely covered by Conforma's automated checks.</a:t>
            </a:r>
          </a:p>
          <a:p>
            <a:r>
              <a:t>- Remember this line: 'An SBOM without enforcement is a PDF nobody reads.'</a:t>
            </a:r>
          </a:p>
          <a:p>
            <a:r>
              <a:t>- By combining Sigstore's cryptographic trust with OPA's policy logic, we move from checkbox compliance to active supply chain security.</a:t>
            </a:r>
          </a:p>
          <a:p>
            <a:r>
              <a:t>- Handoff to Cuiping for installation and getting started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Cuiping:</a:t>
            </a:r>
          </a:p>
          <a:p>
            <a:r>
              <a:t>- Install the CLI in seconds with Homebrew.</a:t>
            </a:r>
          </a:p>
          <a:p>
            <a:r>
              <a:t>- We provide default curated policy presets right in `github.com/conforma/config` so you don't have to write Rego from scratch.</a:t>
            </a:r>
          </a:p>
          <a:p>
            <a:r>
              <a:t>- All demo scripts run today are checked in public at `conforma/demos`.</a:t>
            </a:r>
          </a:p>
          <a:p>
            <a:r>
              <a:t>- Go check out the documentation on conforma.dev, and check out some of the deep dive FOSDEM or SOSS sessions if you want to see specific integrations.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Simon &amp; Cuiping:</a:t>
            </a:r>
          </a:p>
          <a:p>
            <a:r>
              <a:t>- Open the floor for any questions from the audience.</a:t>
            </a:r>
          </a:p>
          <a:p>
            <a:r>
              <a:t>- Remind them of our emails, and invite them to collaborate with us on github.com/conforma.</a:t>
            </a:r>
          </a:p>
          <a:p>
            <a:r>
              <a:t>- Thank everyone for attending DevConf.US 2026!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0"/>
            <a:ext cx="36576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3600" b="1">
                <a:solidFill>
                  <a:srgbClr val="A30000"/>
                </a:solidFill>
                <a:latin typeface="Arial"/>
              </a:rPr>
              <a:t>Closing the Gap Between Build Evidence
and Compliance Enforcement</a:t>
            </a:r>
          </a:p>
          <a:p>
            <a:pPr>
              <a:spcBef>
                <a:spcPts val="800"/>
              </a:spcBef>
            </a:pPr>
            <a:r>
              <a:rPr sz="1600">
                <a:solidFill>
                  <a:srgbClr val="1E1E1E"/>
                </a:solidFill>
                <a:latin typeface="Arial"/>
              </a:rPr>
              <a:t>Simon Baird, Tech Lead, Conforma
Cuiping Huo, Quality Engineer, Konflux / Conforma
DevConf.US 2026  |  Room 106  |  10:40 - 11:15</a:t>
            </a:r>
          </a:p>
        </p:txBody>
      </p:sp>
      <p:pic>
        <p:nvPicPr>
          <p:cNvPr id="6" name="Picture 5" descr="page2-0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7120" y="6263640"/>
            <a:ext cx="594360" cy="44886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0"/>
            <a:ext cx="36576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" y="6309360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87878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800" b="1">
                <a:solidFill>
                  <a:srgbClr val="A30000"/>
                </a:solidFill>
                <a:latin typeface="Arial"/>
              </a:rPr>
              <a:t/>
            </a:r>
          </a:p>
          <a:p>
            <a:pPr algn="ctr">
              <a:spcBef>
                <a:spcPts val="200"/>
              </a:spcBef>
            </a:pPr>
            <a:r>
              <a:rPr sz="1400">
                <a:solidFill>
                  <a:srgbClr val="787878"/>
                </a:solidFill>
                <a:latin typeface="Arial"/>
              </a:rPr>
              <a:t>Having the data != Being secure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5303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A30000"/>
                </a:solidFill>
                <a:latin typeface="Arial"/>
              </a:rPr>
              <a:t>What Pipelines Produce:</a:t>
            </a:r>
          </a:p>
          <a:p>
            <a:pPr>
              <a:spcBef>
                <a:spcPts val="1600"/>
              </a:spcBef>
              <a:spcAft>
                <a:spcPts val="800"/>
              </a:spcAft>
            </a:pPr>
            <a:r>
              <a:rPr sz="1600" b="1">
                <a:solidFill>
                  <a:srgbClr val="CC0000"/>
                </a:solidFill>
                <a:latin typeface="Arial"/>
              </a:rPr>
              <a:t>▸  </a:t>
            </a:r>
            <a:r>
              <a:rPr sz="1600">
                <a:solidFill>
                  <a:srgbClr val="1E1E1E"/>
                </a:solidFill>
                <a:latin typeface="Arial"/>
              </a:rPr>
              <a:t>SBOMs containing detailed dependency records (SPDX / CycloneDX)</a:t>
            </a:r>
          </a:p>
          <a:p>
            <a:pPr>
              <a:spcBef>
                <a:spcPts val="1600"/>
              </a:spcBef>
              <a:spcAft>
                <a:spcPts val="800"/>
              </a:spcAft>
            </a:pPr>
            <a:r>
              <a:rPr sz="1600" b="1">
                <a:solidFill>
                  <a:srgbClr val="CC0000"/>
                </a:solidFill>
                <a:latin typeface="Arial"/>
              </a:rPr>
              <a:t>▸  </a:t>
            </a:r>
            <a:r>
              <a:rPr sz="1600">
                <a:solidFill>
                  <a:srgbClr val="1E1E1E"/>
                </a:solidFill>
                <a:latin typeface="Arial"/>
              </a:rPr>
              <a:t>Signed SLSA provenance attestations showing build origins</a:t>
            </a:r>
          </a:p>
          <a:p>
            <a:pPr>
              <a:spcBef>
                <a:spcPts val="1600"/>
              </a:spcBef>
              <a:spcAft>
                <a:spcPts val="800"/>
              </a:spcAft>
            </a:pPr>
            <a:r>
              <a:rPr sz="1600" b="1">
                <a:solidFill>
                  <a:srgbClr val="CC0000"/>
                </a:solidFill>
                <a:latin typeface="Arial"/>
              </a:rPr>
              <a:t>▸  </a:t>
            </a:r>
            <a:r>
              <a:rPr sz="1600">
                <a:solidFill>
                  <a:srgbClr val="1E1E1E"/>
                </a:solidFill>
                <a:latin typeface="Arial"/>
              </a:rPr>
              <a:t>Vulnerability scan reports listing known CVEs</a:t>
            </a:r>
          </a:p>
          <a:p>
            <a:pPr>
              <a:spcBef>
                <a:spcPts val="1600"/>
              </a:spcBef>
              <a:spcAft>
                <a:spcPts val="800"/>
              </a:spcAft>
            </a:pPr>
            <a:r>
              <a:rPr sz="1600" b="1">
                <a:solidFill>
                  <a:srgbClr val="CC0000"/>
                </a:solidFill>
                <a:latin typeface="Arial"/>
              </a:rPr>
              <a:t>▸  </a:t>
            </a:r>
            <a:r>
              <a:rPr sz="1600">
                <a:solidFill>
                  <a:srgbClr val="1E1E1E"/>
                </a:solidFill>
                <a:latin typeface="Arial"/>
              </a:rPr>
              <a:t>Cryptographically signed container images via Sigstore/cosign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303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A30000"/>
                </a:solidFill>
                <a:latin typeface="Arial"/>
              </a:rPr>
              <a:t>Questions Nobody's Answering:</a:t>
            </a:r>
          </a:p>
          <a:p>
            <a:pPr>
              <a:spcBef>
                <a:spcPts val="1600"/>
              </a:spcBef>
              <a:spcAft>
                <a:spcPts val="800"/>
              </a:spcAft>
            </a:pPr>
            <a:r>
              <a:rPr sz="1600" b="1">
                <a:solidFill>
                  <a:srgbClr val="CC0000"/>
                </a:solidFill>
                <a:latin typeface="Arial"/>
              </a:rPr>
              <a:t>▸  </a:t>
            </a:r>
            <a:r>
              <a:rPr sz="1600">
                <a:solidFill>
                  <a:srgbClr val="1E1E1E"/>
                </a:solidFill>
                <a:latin typeface="Arial"/>
              </a:rPr>
              <a:t>Is the SBOM actually complete and current?</a:t>
            </a:r>
          </a:p>
          <a:p>
            <a:pPr>
              <a:spcBef>
                <a:spcPts val="1600"/>
              </a:spcBef>
              <a:spcAft>
                <a:spcPts val="800"/>
              </a:spcAft>
            </a:pPr>
            <a:r>
              <a:rPr sz="1600" b="1">
                <a:solidFill>
                  <a:srgbClr val="CC0000"/>
                </a:solidFill>
                <a:latin typeface="Arial"/>
              </a:rPr>
              <a:t>▸  </a:t>
            </a:r>
            <a:r>
              <a:rPr sz="1600">
                <a:solidFill>
                  <a:srgbClr val="1E1E1E"/>
                </a:solidFill>
                <a:latin typeface="Arial"/>
              </a:rPr>
              <a:t>Was this container truly built by a trusted CI builder?</a:t>
            </a:r>
          </a:p>
          <a:p>
            <a:pPr>
              <a:spcBef>
                <a:spcPts val="1600"/>
              </a:spcBef>
              <a:spcAft>
                <a:spcPts val="800"/>
              </a:spcAft>
            </a:pPr>
            <a:r>
              <a:rPr sz="1600" b="1">
                <a:solidFill>
                  <a:srgbClr val="CC0000"/>
                </a:solidFill>
                <a:latin typeface="Arial"/>
              </a:rPr>
              <a:t>▸  </a:t>
            </a:r>
            <a:r>
              <a:rPr sz="1600">
                <a:solidFill>
                  <a:srgbClr val="1E1E1E"/>
                </a:solidFill>
                <a:latin typeface="Arial"/>
              </a:rPr>
              <a:t>What about critical CVEs published AFTER the initial scan?</a:t>
            </a:r>
          </a:p>
          <a:p>
            <a:pPr>
              <a:spcBef>
                <a:spcPts val="1600"/>
              </a:spcBef>
              <a:spcAft>
                <a:spcPts val="800"/>
              </a:spcAft>
            </a:pPr>
            <a:r>
              <a:rPr sz="1600" b="1">
                <a:solidFill>
                  <a:srgbClr val="CC0000"/>
                </a:solidFill>
                <a:latin typeface="Arial"/>
              </a:rPr>
              <a:t>▸  </a:t>
            </a:r>
            <a:r>
              <a:rPr sz="1600">
                <a:solidFill>
                  <a:srgbClr val="1E1E1E"/>
                </a:solidFill>
                <a:latin typeface="Arial"/>
              </a:rPr>
              <a:t>Does the artifact actually meet your organization's release policy?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663440"/>
            <a:ext cx="10789920" cy="822960"/>
          </a:xfrm>
          <a:prstGeom prst="round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</a:pPr>
            <a:r>
              <a:rPr sz="1500" i="1" b="1">
                <a:solidFill>
                  <a:srgbClr val="CC0000"/>
                </a:solidFill>
                <a:latin typeface="Arial"/>
              </a:rPr>
              <a:t>"If nothing acts on the evidence, pipelines can still ship non-compliant artifacts."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5778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787878"/>
                </a:solidFill>
                <a:latin typeface="Arial"/>
              </a:rPr>
              <a:t>Regulatory Realities: EU CRA vuln reporting mandatory Sep 2026 | SLSA v1.2 current | FDA rejects device submissions without SBOMs | DORA live for EU financial services since Jan 2025</a:t>
            </a:r>
          </a:p>
        </p:txBody>
      </p:sp>
      <p:pic>
        <p:nvPicPr>
          <p:cNvPr id="11" name="Picture 10" descr="page2-0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7120" y="6263640"/>
            <a:ext cx="594360" cy="44886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0"/>
            <a:ext cx="36576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" y="6309360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87878"/>
                </a:solidFill>
                <a:latin typeface="Arial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800" b="1">
                <a:solidFill>
                  <a:srgbClr val="A30000"/>
                </a:solidFill>
                <a:latin typeface="Arial"/>
              </a:rPr>
              <a:t/>
            </a:r>
          </a:p>
          <a:p>
            <a:pPr algn="ctr">
              <a:spcBef>
                <a:spcPts val="200"/>
              </a:spcBef>
            </a:pPr>
            <a:r>
              <a:rPr sz="1400">
                <a:solidFill>
                  <a:srgbClr val="787878"/>
                </a:solidFill>
                <a:latin typeface="Arial"/>
              </a:rPr>
              <a:t>Everything looks green. Nothing should ship.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2560320" cy="292608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</a:pPr>
            <a:r>
              <a:rPr sz="1500" b="1">
                <a:solidFill>
                  <a:srgbClr val="A30000"/>
                </a:solidFill>
                <a:latin typeface="Arial"/>
              </a:rPr>
              <a:t>SBOM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009600"/>
                </a:solidFill>
              </a:rPr>
              <a:t>Looks Like: </a:t>
            </a:r>
            <a:r>
              <a:rPr sz="1200">
                <a:solidFill>
                  <a:srgbClr val="1E1E1E"/>
                </a:solidFill>
              </a:rPr>
              <a:t>Valid SPDX attached.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CC0000"/>
                </a:solidFill>
              </a:rPr>
              <a:t>Reality: </a:t>
            </a:r>
            <a:r>
              <a:rPr sz="1200">
                <a:solidFill>
                  <a:srgbClr val="1E1E1E"/>
                </a:solidFill>
              </a:rPr>
              <a:t>Generated before final deps. 3 components missing.</a:t>
            </a:r>
          </a:p>
          <a:p>
            <a:pPr algn="ctr">
              <a:spcBef>
                <a:spcPts val="800"/>
              </a:spcBef>
            </a:pPr>
            <a:r>
              <a:rPr sz="1150" b="1">
                <a:solidFill>
                  <a:srgbClr val="A30000"/>
                </a:solidFill>
                <a:latin typeface="Arial"/>
              </a:rPr>
              <a:t>[ Stale / Incomplete SBOM 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645920"/>
            <a:ext cx="2560320" cy="29260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</a:pPr>
            <a:r>
              <a:rPr sz="1500" b="1">
                <a:solidFill>
                  <a:srgbClr val="A30000"/>
                </a:solidFill>
                <a:latin typeface="Arial"/>
              </a:rPr>
              <a:t>SLSA Provenance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009600"/>
                </a:solidFill>
              </a:rPr>
              <a:t>Looks Like: </a:t>
            </a:r>
            <a:r>
              <a:rPr sz="1200">
                <a:solidFill>
                  <a:srgbClr val="1E1E1E"/>
                </a:solidFill>
              </a:rPr>
              <a:t>Signed provenance.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CC0000"/>
                </a:solidFill>
              </a:rPr>
              <a:t>Reality: </a:t>
            </a:r>
            <a:r>
              <a:rPr sz="1200">
                <a:solidFill>
                  <a:srgbClr val="1E1E1E"/>
                </a:solidFill>
              </a:rPr>
              <a:t>Built on dev laptop, not CI. SLSA L1 (requires L3).</a:t>
            </a:r>
          </a:p>
          <a:p>
            <a:pPr algn="ctr">
              <a:spcBef>
                <a:spcPts val="800"/>
              </a:spcBef>
            </a:pPr>
            <a:r>
              <a:rPr sz="1150" b="1">
                <a:solidFill>
                  <a:srgbClr val="A30000"/>
                </a:solidFill>
                <a:latin typeface="Arial"/>
              </a:rPr>
              <a:t>[ Untrusted Build Origin 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2560320" cy="29260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</a:pPr>
            <a:r>
              <a:rPr sz="1500" b="1">
                <a:solidFill>
                  <a:srgbClr val="A30000"/>
                </a:solidFill>
                <a:latin typeface="Arial"/>
              </a:rPr>
              <a:t>Vuln Scan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009600"/>
                </a:solidFill>
              </a:rPr>
              <a:t>Looks Like: </a:t>
            </a:r>
            <a:r>
              <a:rPr sz="1200">
                <a:solidFill>
                  <a:srgbClr val="1E1E1E"/>
                </a:solidFill>
              </a:rPr>
              <a:t>Clean scan Tuesday.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CC0000"/>
                </a:solidFill>
              </a:rPr>
              <a:t>Reality: </a:t>
            </a:r>
            <a:r>
              <a:rPr sz="1200">
                <a:solidFill>
                  <a:srgbClr val="1E1E1E"/>
                </a:solidFill>
              </a:rPr>
              <a:t>Critical CVE published Wednesday. Deploy is Thursday.</a:t>
            </a:r>
          </a:p>
          <a:p>
            <a:pPr algn="ctr">
              <a:spcBef>
                <a:spcPts val="800"/>
              </a:spcBef>
            </a:pPr>
            <a:r>
              <a:rPr sz="1150" b="1">
                <a:solidFill>
                  <a:srgbClr val="A30000"/>
                </a:solidFill>
                <a:latin typeface="Arial"/>
              </a:rPr>
              <a:t>[ Post-Scan Vulnerability 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645920"/>
            <a:ext cx="2560320" cy="29260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</a:pPr>
            <a:r>
              <a:rPr sz="1500" b="1">
                <a:solidFill>
                  <a:srgbClr val="A30000"/>
                </a:solidFill>
                <a:latin typeface="Arial"/>
              </a:rPr>
              <a:t>License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009600"/>
                </a:solidFill>
              </a:rPr>
              <a:t>Looks Like: </a:t>
            </a:r>
            <a:r>
              <a:rPr sz="1200">
                <a:solidFill>
                  <a:srgbClr val="1E1E1E"/>
                </a:solidFill>
              </a:rPr>
              <a:t>All deps scanned.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CC0000"/>
                </a:solidFill>
              </a:rPr>
              <a:t>Reality: </a:t>
            </a:r>
            <a:r>
              <a:rPr sz="1200">
                <a:solidFill>
                  <a:srgbClr val="1E1E1E"/>
                </a:solidFill>
              </a:rPr>
              <a:t>New transitive dep pulled in AGPL. Product is proprietary.</a:t>
            </a:r>
          </a:p>
          <a:p>
            <a:pPr algn="ctr">
              <a:spcBef>
                <a:spcPts val="800"/>
              </a:spcBef>
            </a:pPr>
            <a:r>
              <a:rPr sz="1150" b="1">
                <a:solidFill>
                  <a:srgbClr val="A30000"/>
                </a:solidFill>
                <a:latin typeface="Arial"/>
              </a:rPr>
              <a:t>[ Restrictive License Spill 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75488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E1E1E"/>
                </a:solidFill>
                <a:latin typeface="Arial"/>
              </a:rPr>
              <a:t>"The compliance data was technically there. Nobody checked it against policy at the gate."</a:t>
            </a:r>
          </a:p>
        </p:txBody>
      </p:sp>
      <p:pic>
        <p:nvPicPr>
          <p:cNvPr id="12" name="Picture 11" descr="page2-0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7120" y="6263640"/>
            <a:ext cx="594360" cy="44886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0"/>
            <a:ext cx="36576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" y="6309360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87878"/>
                </a:solidFill>
                <a:latin typeface="Arial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800" b="1">
                <a:solidFill>
                  <a:srgbClr val="A30000"/>
                </a:solidFill>
                <a:latin typeface="Arial"/>
              </a:rPr>
              <a:t/>
            </a:r>
          </a:p>
          <a:p>
            <a:pPr algn="ctr">
              <a:spcBef>
                <a:spcPts val="200"/>
              </a:spcBef>
            </a:pPr>
            <a:r>
              <a:rPr sz="1400">
                <a:solidFill>
                  <a:srgbClr val="787878"/>
                </a:solidFill>
                <a:latin typeface="Arial"/>
              </a:rPr>
              <a:t>Active Gates, Not Passive Reports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164592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</a:pPr>
            <a:r>
              <a:rPr sz="1600" b="1">
                <a:solidFill>
                  <a:srgbClr val="1E1E1E"/>
                </a:solidFill>
                <a:latin typeface="Arial"/>
              </a:rPr>
              <a:t>Build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0" y="1463040"/>
            <a:ext cx="1554480" cy="1097280"/>
          </a:xfrm>
          <a:prstGeom prst="roundRect">
            <a:avLst/>
          </a:prstGeom>
          <a:solidFill>
            <a:srgbClr val="CC0000"/>
          </a:solidFill>
          <a:ln>
            <a:solidFill>
              <a:srgbClr val="A3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</a:pPr>
            <a:r>
              <a:rPr sz="1400" b="1">
                <a:solidFill>
                  <a:srgbClr val="FFFFFF"/>
                </a:solidFill>
                <a:latin typeface="Arial"/>
              </a:rPr>
              <a:t>GATE</a:t>
            </a:r>
          </a:p>
          <a:p>
            <a:pPr algn="ctr"/>
            <a:r>
              <a:rPr sz="1050">
                <a:solidFill>
                  <a:srgbClr val="FFFFFF"/>
                </a:solidFill>
                <a:latin typeface="Arial"/>
              </a:rPr>
              <a:t>Conforma
PASS? go
FAIL? stop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37760" y="1645920"/>
            <a:ext cx="164592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</a:pPr>
            <a:r>
              <a:rPr sz="1600" b="1">
                <a:solidFill>
                  <a:srgbClr val="1E1E1E"/>
                </a:solidFill>
                <a:latin typeface="Arial"/>
              </a:rPr>
              <a:t>Promote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0" y="1463040"/>
            <a:ext cx="1554480" cy="1097280"/>
          </a:xfrm>
          <a:prstGeom prst="roundRect">
            <a:avLst/>
          </a:prstGeom>
          <a:solidFill>
            <a:srgbClr val="CC0000"/>
          </a:solidFill>
          <a:ln>
            <a:solidFill>
              <a:srgbClr val="A3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</a:pPr>
            <a:r>
              <a:rPr sz="1400" b="1">
                <a:solidFill>
                  <a:srgbClr val="FFFFFF"/>
                </a:solidFill>
                <a:latin typeface="Arial"/>
              </a:rPr>
              <a:t>GATE</a:t>
            </a:r>
          </a:p>
          <a:p>
            <a:pPr algn="ctr"/>
            <a:r>
              <a:rPr sz="1050">
                <a:solidFill>
                  <a:srgbClr val="FFFFFF"/>
                </a:solidFill>
                <a:latin typeface="Arial"/>
              </a:rPr>
              <a:t>Conforma
PASS? go
FAIL? stop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0" y="1645920"/>
            <a:ext cx="164592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</a:pPr>
            <a:r>
              <a:rPr sz="1600" b="1">
                <a:solidFill>
                  <a:srgbClr val="1E1E1E"/>
                </a:solidFill>
                <a:latin typeface="Arial"/>
              </a:rPr>
              <a:t>Deploy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468880" y="1828800"/>
            <a:ext cx="320040" cy="365760"/>
          </a:xfrm>
          <a:prstGeom prst="rightArrow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ight Arrow 12"/>
          <p:cNvSpPr/>
          <p:nvPr/>
        </p:nvSpPr>
        <p:spPr>
          <a:xfrm>
            <a:off x="4572000" y="1828800"/>
            <a:ext cx="320040" cy="365760"/>
          </a:xfrm>
          <a:prstGeom prst="rightArrow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ight Arrow 13"/>
          <p:cNvSpPr/>
          <p:nvPr/>
        </p:nvSpPr>
        <p:spPr>
          <a:xfrm>
            <a:off x="6583680" y="1828800"/>
            <a:ext cx="320040" cy="365760"/>
          </a:xfrm>
          <a:prstGeom prst="rightArrow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ight Arrow 14"/>
          <p:cNvSpPr/>
          <p:nvPr/>
        </p:nvSpPr>
        <p:spPr>
          <a:xfrm>
            <a:off x="8778240" y="1828800"/>
            <a:ext cx="320040" cy="365760"/>
          </a:xfrm>
          <a:prstGeom prst="rightArrow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108960"/>
            <a:ext cx="107899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600"/>
              </a:spcBef>
              <a:spcAft>
                <a:spcPts val="800"/>
              </a:spcAft>
            </a:pPr>
            <a:r>
              <a:rPr sz="1600" b="1">
                <a:solidFill>
                  <a:srgbClr val="CC0000"/>
                </a:solidFill>
                <a:latin typeface="Arial"/>
              </a:rPr>
              <a:t>▸  Blocking, not alerting. Failed artifacts don't advance.</a:t>
            </a:r>
            <a:r>
              <a:rPr sz="1600" b="1">
                <a:solidFill>
                  <a:srgbClr val="1E1E1E"/>
                </a:solidFill>
                <a:latin typeface="Arial"/>
              </a:rPr>
              <a:t/>
            </a:r>
            <a:r>
              <a:rPr sz="1600">
                <a:solidFill>
                  <a:srgbClr val="1E1E1E"/>
                </a:solidFill>
                <a:latin typeface="Arial"/>
              </a:rPr>
              <a:t/>
            </a:r>
          </a:p>
          <a:p>
            <a:pPr>
              <a:spcBef>
                <a:spcPts val="1600"/>
              </a:spcBef>
              <a:spcAft>
                <a:spcPts val="800"/>
              </a:spcAft>
            </a:pPr>
            <a:r>
              <a:rPr sz="1600" b="1">
                <a:solidFill>
                  <a:srgbClr val="CC0000"/>
                </a:solidFill>
                <a:latin typeface="Arial"/>
              </a:rPr>
              <a:t>▸  </a:t>
            </a:r>
            <a:r>
              <a:rPr sz="1600" b="1">
                <a:solidFill>
                  <a:srgbClr val="1E1E1E"/>
                </a:solidFill>
                <a:latin typeface="Arial"/>
              </a:rPr>
              <a:t>Zero-trust for artifacts. </a:t>
            </a:r>
            <a:r>
              <a:rPr sz="1600">
                <a:solidFill>
                  <a:srgbClr val="1E1E1E"/>
                </a:solidFill>
                <a:latin typeface="Arial"/>
              </a:rPr>
              <a:t>Artifacts must actively prove policy compliance to progress; no implicit trust.</a:t>
            </a:r>
          </a:p>
          <a:p>
            <a:pPr>
              <a:spcBef>
                <a:spcPts val="1600"/>
              </a:spcBef>
              <a:spcAft>
                <a:spcPts val="800"/>
              </a:spcAft>
            </a:pPr>
            <a:r>
              <a:rPr sz="1600" b="1">
                <a:solidFill>
                  <a:srgbClr val="CC0000"/>
                </a:solidFill>
                <a:latin typeface="Arial"/>
              </a:rPr>
              <a:t>▸  </a:t>
            </a:r>
            <a:r>
              <a:rPr sz="1600" b="1">
                <a:solidFill>
                  <a:srgbClr val="1E1E1E"/>
                </a:solidFill>
                <a:latin typeface="Arial"/>
              </a:rPr>
              <a:t>Policies live in Git. </a:t>
            </a:r>
            <a:r>
              <a:rPr sz="1600">
                <a:solidFill>
                  <a:srgbClr val="1E1E1E"/>
                </a:solidFill>
                <a:latin typeface="Arial"/>
              </a:rPr>
              <a:t>Policies are managed like application code — tracked, tested, and versioned in Git.</a:t>
            </a:r>
          </a:p>
          <a:p>
            <a:pPr>
              <a:spcBef>
                <a:spcPts val="1600"/>
              </a:spcBef>
              <a:spcAft>
                <a:spcPts val="800"/>
              </a:spcAft>
            </a:pPr>
            <a:r>
              <a:rPr sz="1600" b="1">
                <a:solidFill>
                  <a:srgbClr val="CC0000"/>
                </a:solidFill>
                <a:latin typeface="Arial"/>
              </a:rPr>
              <a:t>▸  Decisions from signed data, not self-reported status.</a:t>
            </a:r>
            <a:r>
              <a:rPr sz="1600" b="1">
                <a:solidFill>
                  <a:srgbClr val="1E1E1E"/>
                </a:solidFill>
                <a:latin typeface="Arial"/>
              </a:rPr>
              <a:t/>
            </a:r>
            <a:r>
              <a:rPr sz="1600">
                <a:solidFill>
                  <a:srgbClr val="1E1E1E"/>
                </a:solidFill>
                <a:latin typeface="Arial"/>
              </a:rPr>
              <a:t/>
            </a:r>
          </a:p>
        </p:txBody>
      </p:sp>
      <p:pic>
        <p:nvPicPr>
          <p:cNvPr id="17" name="Picture 16" descr="page2-0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7120" y="6263640"/>
            <a:ext cx="594360" cy="44886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0"/>
            <a:ext cx="36576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" y="6309360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87878"/>
                </a:solidFill>
                <a:latin typeface="Arial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A30000"/>
                </a:solidFill>
                <a:latin typeface="Arial"/>
              </a:rPr>
              <a:t>Conforma enforces supply chain rules using Sigstore and Open Policy Agent</a:t>
            </a:r>
          </a:p>
          <a:p>
            <a:pPr algn="ctr">
              <a:spcBef>
                <a:spcPts val="200"/>
              </a:spcBef>
            </a:pPr>
            <a:r>
              <a:rPr sz="1400">
                <a:solidFill>
                  <a:srgbClr val="787878"/>
                </a:solidFill>
                <a:latin typeface="Arial"/>
              </a:rPr>
              <a:t>What Is Conforma?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1">
                <a:solidFill>
                  <a:srgbClr val="1E1E1E"/>
                </a:solidFill>
                <a:latin typeface="Arial"/>
              </a:rPr>
              <a:t>Open-source supply chain policy enforcement engine (formerly Enterprise Contract).</a:t>
            </a:r>
          </a:p>
          <a:p>
            <a:pPr>
              <a:spcBef>
                <a:spcPts val="1600"/>
              </a:spcBef>
              <a:spcAft>
                <a:spcPts val="800"/>
              </a:spcAft>
            </a:pPr>
            <a:r>
              <a:rPr sz="1600" b="1">
                <a:solidFill>
                  <a:srgbClr val="CC0000"/>
                </a:solidFill>
                <a:latin typeface="Arial"/>
              </a:rPr>
              <a:t>▸  </a:t>
            </a:r>
            <a:r>
              <a:rPr sz="1600" b="1">
                <a:solidFill>
                  <a:srgbClr val="1E1E1E"/>
                </a:solidFill>
                <a:latin typeface="Arial"/>
              </a:rPr>
              <a:t>Verifies Signatures: </a:t>
            </a:r>
            <a:r>
              <a:rPr sz="1600">
                <a:solidFill>
                  <a:srgbClr val="1E1E1E"/>
                </a:solidFill>
                <a:latin typeface="Arial"/>
              </a:rPr>
              <a:t>Sigstore (OpenSSF) for signature and attestation verification.</a:t>
            </a:r>
          </a:p>
          <a:p>
            <a:pPr>
              <a:spcBef>
                <a:spcPts val="1600"/>
              </a:spcBef>
              <a:spcAft>
                <a:spcPts val="800"/>
              </a:spcAft>
            </a:pPr>
            <a:r>
              <a:rPr sz="1600" b="1">
                <a:solidFill>
                  <a:srgbClr val="CC0000"/>
                </a:solidFill>
                <a:latin typeface="Arial"/>
              </a:rPr>
              <a:t>▸  </a:t>
            </a:r>
            <a:r>
              <a:rPr sz="1600" b="1">
                <a:solidFill>
                  <a:srgbClr val="1E1E1E"/>
                </a:solidFill>
                <a:latin typeface="Arial"/>
              </a:rPr>
              <a:t>Evaluates Policy: </a:t>
            </a:r>
            <a:r>
              <a:rPr sz="1600">
                <a:solidFill>
                  <a:srgbClr val="1E1E1E"/>
                </a:solidFill>
                <a:latin typeface="Arial"/>
              </a:rPr>
              <a:t>OPA / Rego (CNCF) for policy evaluation.</a:t>
            </a:r>
          </a:p>
          <a:p>
            <a:pPr>
              <a:spcBef>
                <a:spcPts val="1600"/>
              </a:spcBef>
              <a:spcAft>
                <a:spcPts val="800"/>
              </a:spcAft>
            </a:pPr>
            <a:r>
              <a:rPr sz="1600" b="1">
                <a:solidFill>
                  <a:srgbClr val="CC0000"/>
                </a:solidFill>
                <a:latin typeface="Arial"/>
              </a:rPr>
              <a:t>▸  </a:t>
            </a:r>
            <a:r>
              <a:rPr sz="1600" b="1">
                <a:solidFill>
                  <a:srgbClr val="1E1E1E"/>
                </a:solidFill>
                <a:latin typeface="Arial"/>
              </a:rPr>
              <a:t>Highly Integrable: </a:t>
            </a:r>
            <a:r>
              <a:rPr sz="1600">
                <a:solidFill>
                  <a:srgbClr val="1E1E1E"/>
                </a:solidFill>
                <a:latin typeface="Arial"/>
              </a:rPr>
              <a:t>Works with Tekton, GitHub Actions, GitLab CI, Jenkins.</a:t>
            </a:r>
          </a:p>
          <a:p>
            <a:pPr>
              <a:spcBef>
                <a:spcPts val="1600"/>
              </a:spcBef>
              <a:spcAft>
                <a:spcPts val="800"/>
              </a:spcAft>
            </a:pPr>
            <a:r>
              <a:rPr sz="1600" b="1">
                <a:solidFill>
                  <a:srgbClr val="CC0000"/>
                </a:solidFill>
                <a:latin typeface="Arial"/>
              </a:rPr>
              <a:t>▸  </a:t>
            </a:r>
            <a:r>
              <a:rPr sz="1600" b="1">
                <a:solidFill>
                  <a:srgbClr val="1E1E1E"/>
                </a:solidFill>
                <a:latin typeface="Arial"/>
              </a:rPr>
              <a:t>Rich Formats: </a:t>
            </a:r>
            <a:r>
              <a:rPr sz="1600">
                <a:solidFill>
                  <a:srgbClr val="1E1E1E"/>
                </a:solidFill>
                <a:latin typeface="Arial"/>
              </a:rPr>
              <a:t>Text output for humans, JSON/YAML for machines.</a:t>
            </a:r>
          </a:p>
          <a:p>
            <a:pPr>
              <a:spcBef>
                <a:spcPts val="1600"/>
              </a:spcBef>
              <a:spcAft>
                <a:spcPts val="800"/>
              </a:spcAft>
            </a:pPr>
            <a:r>
              <a:rPr sz="1600" b="1">
                <a:solidFill>
                  <a:srgbClr val="CC0000"/>
                </a:solidFill>
                <a:latin typeface="Arial"/>
              </a:rPr>
              <a:t>▸  </a:t>
            </a:r>
            <a:r>
              <a:rPr sz="1600" b="1">
                <a:solidFill>
                  <a:srgbClr val="1E1E1E"/>
                </a:solidFill>
                <a:latin typeface="Arial"/>
              </a:rPr>
              <a:t>Produces Evidence: </a:t>
            </a:r>
            <a:r>
              <a:rPr sz="1600">
                <a:solidFill>
                  <a:srgbClr val="1E1E1E"/>
                </a:solidFill>
                <a:latin typeface="Arial"/>
              </a:rPr>
              <a:t>Produces signed VSAs (proof of what was verified).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0" y="1645920"/>
            <a:ext cx="4754880" cy="3840480"/>
          </a:xfrm>
          <a:prstGeom prst="rect">
            <a:avLst/>
          </a:prstGeom>
          <a:solidFill>
            <a:srgbClr val="F5F5F5"/>
          </a:solidFill>
          <a:ln w="1905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</a:pPr>
            <a:r>
              <a:rPr sz="1600" b="1">
                <a:solidFill>
                  <a:srgbClr val="A30000"/>
                </a:solidFill>
                <a:latin typeface="Arial"/>
              </a:rPr>
              <a:t>One CLI Command Evaluates Both:</a:t>
            </a:r>
          </a:p>
          <a:p>
            <a:pPr algn="ctr">
              <a:spcAft>
                <a:spcPts val="800"/>
              </a:spcAft>
            </a:pPr>
            <a:r>
              <a:rPr sz="1400">
                <a:solidFill>
                  <a:srgbClr val="1E1E1E"/>
                </a:solidFill>
                <a:latin typeface="Arial"/>
              </a:rPr>
              <a:t>Sigstore Cryptography
(Is the artifact authentic and untampered?)
+
OPA / Rego Logic
(Does the artifact meet organization standards?)
➔ Signed VSA Proof</a:t>
            </a:r>
          </a:p>
          <a:p>
            <a:pPr algn="ctr">
              <a:spcBef>
                <a:spcPts val="2000"/>
              </a:spcBef>
            </a:pPr>
            <a:r>
              <a:rPr sz="1300" b="1">
                <a:solidFill>
                  <a:srgbClr val="CC0000"/>
                </a:solidFill>
                <a:latin typeface="Arial"/>
              </a:rPr>
              <a:t>conforma.dev  |  github.com/conforma/cli</a:t>
            </a:r>
          </a:p>
        </p:txBody>
      </p:sp>
      <p:pic>
        <p:nvPicPr>
          <p:cNvPr id="9" name="Picture 8" descr="page2-0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7120" y="6263640"/>
            <a:ext cx="594360" cy="44886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0"/>
            <a:ext cx="36576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" y="6309360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87878"/>
                </a:solidFill>
                <a:latin typeface="Arial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800" b="1">
                <a:solidFill>
                  <a:srgbClr val="A30000"/>
                </a:solidFill>
                <a:latin typeface="Arial"/>
              </a:rPr>
              <a:t/>
            </a:r>
          </a:p>
          <a:p>
            <a:pPr algn="ctr">
              <a:spcBef>
                <a:spcPts val="200"/>
              </a:spcBef>
            </a:pPr>
            <a:r>
              <a:rPr sz="1400">
                <a:solidFill>
                  <a:srgbClr val="787878"/>
                </a:solidFill>
                <a:latin typeface="Arial"/>
              </a:rPr>
              <a:t>How It Works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3291840" cy="27432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A30000"/>
                </a:solidFill>
                <a:latin typeface="Arial"/>
              </a:rPr>
              <a:t>1. Fetch &amp; Verify</a:t>
            </a:r>
          </a:p>
          <a:p>
            <a:pPr>
              <a:spcAft>
                <a:spcPts val="1400"/>
              </a:spcAft>
            </a:pPr>
            <a:r>
              <a:rPr sz="1300">
                <a:solidFill>
                  <a:srgbClr val="1E1E1E"/>
                </a:solidFill>
                <a:latin typeface="Arial"/>
              </a:rPr>
              <a:t>Retrieves signed attestations from OCI registry or Sigstore Rekor, verifying cryptographic signatures.</a:t>
            </a:r>
          </a:p>
          <a:p>
            <a:pPr algn="ctr"/>
            <a:r>
              <a:rPr sz="1200" b="1">
                <a:solidFill>
                  <a:srgbClr val="CC0000"/>
                </a:solidFill>
                <a:latin typeface="Arial"/>
              </a:rPr>
              <a:t>[ Tech: Sigstore / Cosign ]</a:t>
            </a:r>
          </a:p>
        </p:txBody>
      </p:sp>
      <p:sp>
        <p:nvSpPr>
          <p:cNvPr id="8" name="Chevron 7"/>
          <p:cNvSpPr/>
          <p:nvPr/>
        </p:nvSpPr>
        <p:spPr>
          <a:xfrm>
            <a:off x="4069080" y="3108960"/>
            <a:ext cx="274320" cy="548640"/>
          </a:xfrm>
          <a:prstGeom prst="chevron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89120" y="2011680"/>
            <a:ext cx="3291840" cy="27432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A30000"/>
                </a:solidFill>
                <a:latin typeface="Arial"/>
              </a:rPr>
              <a:t>2. Evaluate Policy</a:t>
            </a:r>
          </a:p>
          <a:p>
            <a:pPr>
              <a:spcAft>
                <a:spcPts val="1400"/>
              </a:spcAft>
            </a:pPr>
            <a:r>
              <a:rPr sz="1300">
                <a:solidFill>
                  <a:srgbClr val="1E1E1E"/>
                </a:solidFill>
                <a:latin typeface="Arial"/>
              </a:rPr>
              <a:t>Passes structured metadata to Open Policy Agent (OPA), executing customized Rego policy rules.</a:t>
            </a:r>
          </a:p>
          <a:p>
            <a:pPr algn="ctr"/>
            <a:r>
              <a:rPr sz="1200" b="1">
                <a:solidFill>
                  <a:srgbClr val="CC0000"/>
                </a:solidFill>
                <a:latin typeface="Arial"/>
              </a:rPr>
              <a:t>[ Tech: OPA / Rego Engine ]</a:t>
            </a:r>
          </a:p>
        </p:txBody>
      </p:sp>
      <p:sp>
        <p:nvSpPr>
          <p:cNvPr id="10" name="Chevron 9"/>
          <p:cNvSpPr/>
          <p:nvPr/>
        </p:nvSpPr>
        <p:spPr>
          <a:xfrm>
            <a:off x="7726680" y="3108960"/>
            <a:ext cx="274320" cy="548640"/>
          </a:xfrm>
          <a:prstGeom prst="chevron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46720" y="2011680"/>
            <a:ext cx="3291840" cy="27432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A30000"/>
                </a:solidFill>
                <a:latin typeface="Arial"/>
              </a:rPr>
              <a:t>3. Generate Proof</a:t>
            </a:r>
          </a:p>
          <a:p>
            <a:pPr>
              <a:spcAft>
                <a:spcPts val="1400"/>
              </a:spcAft>
            </a:pPr>
            <a:r>
              <a:rPr sz="1300">
                <a:solidFill>
                  <a:srgbClr val="1E1E1E"/>
                </a:solidFill>
                <a:latin typeface="Arial"/>
              </a:rPr>
              <a:t>Generates and signs a Verification Summary Attestation (VSA) to act as a secure pass for deployment.</a:t>
            </a:r>
          </a:p>
          <a:p>
            <a:pPr algn="ctr"/>
            <a:r>
              <a:rPr sz="1200" b="1">
                <a:solidFill>
                  <a:srgbClr val="CC0000"/>
                </a:solidFill>
                <a:latin typeface="Arial"/>
              </a:rPr>
              <a:t>[ Tech: Signed VSA Output 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12064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E1E1E"/>
                </a:solidFill>
                <a:latin typeface="Arial"/>
              </a:rPr>
              <a:t>This unified pipeline replaces multiple disconnected tools with a single fast evaluation phase.</a:t>
            </a:r>
          </a:p>
        </p:txBody>
      </p:sp>
      <p:pic>
        <p:nvPicPr>
          <p:cNvPr id="13" name="Picture 12" descr="page2-0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7120" y="6263640"/>
            <a:ext cx="594360" cy="44886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0"/>
            <a:ext cx="36576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" y="6309360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87878"/>
                </a:solidFill>
                <a:latin typeface="Arial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800" b="1">
                <a:solidFill>
                  <a:srgbClr val="A30000"/>
                </a:solidFill>
                <a:latin typeface="Arial"/>
              </a:rPr>
              <a:t/>
            </a:r>
          </a:p>
          <a:p>
            <a:pPr algn="ctr">
              <a:spcBef>
                <a:spcPts val="200"/>
              </a:spcBef>
            </a:pPr>
            <a:r>
              <a:rPr sz="1400">
                <a:solidFill>
                  <a:srgbClr val="787878"/>
                </a:solidFill>
                <a:latin typeface="Arial"/>
              </a:rPr>
              <a:t>What Can You Check?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645920"/>
          <a:ext cx="65836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011680"/>
                <a:gridCol w="2926080"/>
              </a:tblGrid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Compliance Category</a:t>
                      </a:r>
                    </a:p>
                  </a:txBody>
                  <a:tcPr anchor="ctr">
                    <a:solidFill>
                      <a:srgbClr val="A3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Underlying Question</a:t>
                      </a:r>
                    </a:p>
                  </a:txBody>
                  <a:tcPr anchor="ctr">
                    <a:solidFill>
                      <a:srgbClr val="A3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Real-World Rule Example</a:t>
                      </a:r>
                    </a:p>
                  </a:txBody>
                  <a:tcPr anchor="ctr">
                    <a:solidFill>
                      <a:srgbClr val="A30000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E1E1E"/>
                          </a:solidFill>
                          <a:latin typeface="Arial"/>
                        </a:rPr>
                        <a:t>Trusted Builders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E1E1E"/>
                          </a:solidFill>
                          <a:latin typeface="Arial"/>
                        </a:rPr>
                        <a:t>Built by authorized CI?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E1E1E"/>
                          </a:solidFill>
                          <a:latin typeface="Arial"/>
                        </a:rPr>
                        <a:t>Only permit Konflux/Tekton pipelines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E1E1E"/>
                          </a:solidFill>
                          <a:latin typeface="Arial"/>
                        </a:rPr>
                        <a:t>CVE Thresholds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E1E1E"/>
                          </a:solidFill>
                          <a:latin typeface="Arial"/>
                        </a:rPr>
                        <a:t>Unresolved vulns?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E1E1E"/>
                          </a:solidFill>
                          <a:latin typeface="Arial"/>
                        </a:rPr>
                        <a:t>Block critical, warn on high CVEs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E1E1E"/>
                          </a:solidFill>
                          <a:latin typeface="Arial"/>
                        </a:rPr>
                        <a:t>License Compliance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E1E1E"/>
                          </a:solidFill>
                          <a:latin typeface="Arial"/>
                        </a:rPr>
                        <a:t>Prohibited licenses?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E1E1E"/>
                          </a:solidFill>
                          <a:latin typeface="Arial"/>
                        </a:rPr>
                        <a:t>No AGPL allowed in proprietary products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E1E1E"/>
                          </a:solidFill>
                          <a:latin typeface="Arial"/>
                        </a:rPr>
                        <a:t>SBOM Completeness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E1E1E"/>
                          </a:solidFill>
                          <a:latin typeface="Arial"/>
                        </a:rPr>
                        <a:t>SBOM present &amp; valid?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E1E1E"/>
                          </a:solidFill>
                          <a:latin typeface="Arial"/>
                        </a:rPr>
                        <a:t>SPDX format with PURLs for all components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E1E1E"/>
                          </a:solidFill>
                          <a:latin typeface="Arial"/>
                        </a:rPr>
                        <a:t>SLSA Level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E1E1E"/>
                          </a:solidFill>
                          <a:latin typeface="Arial"/>
                        </a:rPr>
                        <a:t>Provenance meets level?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E1E1E"/>
                          </a:solidFill>
                          <a:latin typeface="Arial"/>
                        </a:rPr>
                        <a:t>Require SLSA Build L3 verification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E1E1E"/>
                          </a:solidFill>
                          <a:latin typeface="Arial"/>
                        </a:rPr>
                        <a:t>Source Correlation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E1E1E"/>
                          </a:solidFill>
                          <a:latin typeface="Arial"/>
                        </a:rPr>
                        <a:t>Matches declared source?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E1E1E"/>
                          </a:solidFill>
                          <a:latin typeface="Arial"/>
                        </a:rPr>
                        <a:t>Git repository and commit SHA must align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E1E1E"/>
                          </a:solidFill>
                          <a:latin typeface="Arial"/>
                        </a:rPr>
                        <a:t>Required Tasks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E1E1E"/>
                          </a:solidFill>
                          <a:latin typeface="Arial"/>
                        </a:rPr>
                        <a:t>Security tasks executed?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E1E1E"/>
                          </a:solidFill>
                          <a:latin typeface="Arial"/>
                        </a:rPr>
                        <a:t>Scan, test, and lint tasks must succeed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498079" y="1645920"/>
            <a:ext cx="4023360" cy="4114800"/>
          </a:xfrm>
          <a:prstGeom prst="rect">
            <a:avLst/>
          </a:prstGeom>
          <a:solidFill>
            <a:srgbClr val="F5F5F5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79" y="1353312"/>
            <a:ext cx="4023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CC0000"/>
                </a:solidFill>
                <a:latin typeface="Arial"/>
              </a:rPr>
              <a:t>policy.yaml (Production Configuration)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19" y="1691640"/>
            <a:ext cx="38404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E1E1E"/>
                </a:solidFill>
                <a:latin typeface="Courier New"/>
              </a:rPr>
              <a:t>sources:</a:t>
            </a:r>
          </a:p>
        </p:txBody>
      </p:sp>
      <p:pic>
        <p:nvPicPr>
          <p:cNvPr id="11" name="Picture 10" descr="page2-0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7120" y="6263640"/>
            <a:ext cx="594360" cy="44886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0"/>
            <a:ext cx="36576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" y="6309360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87878"/>
                </a:solidFill>
                <a:latin typeface="Arial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800" b="1">
                <a:solidFill>
                  <a:srgbClr val="A30000"/>
                </a:solidFill>
                <a:latin typeface="Arial"/>
              </a:rPr>
              <a:t/>
            </a:r>
          </a:p>
          <a:p>
            <a:pPr algn="ctr">
              <a:spcBef>
                <a:spcPts val="200"/>
              </a:spcBef>
            </a:pPr>
            <a:r>
              <a:rPr sz="1400">
                <a:solidFill>
                  <a:srgbClr val="787878"/>
                </a:solidFill>
                <a:latin typeface="Arial"/>
              </a:rPr>
              <a:t>Pipeline Integration (Tekton)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5486400" cy="4114800"/>
          </a:xfrm>
          <a:prstGeom prst="rect">
            <a:avLst/>
          </a:prstGeom>
          <a:solidFill>
            <a:srgbClr val="F5F5F5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53312"/>
            <a:ext cx="5486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CC0000"/>
                </a:solidFill>
                <a:latin typeface="Arial"/>
              </a:rPr>
              <a:t>verify-conforma-task.yaml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691640"/>
            <a:ext cx="5303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E1E1E"/>
                </a:solidFill>
                <a:latin typeface="Courier New"/>
              </a:rPr>
              <a:t>apiVersion: tekton.dev/v1
kind: Task
metadata:
  name: verify-conforma
spec:
  params:
    - name: IMAGES
    - name: POLICY_CONFIGURATION
    - name: PUBLIC_KEY
  steps:
    - name: validate
      image: quay.io/conforma/cli:latest
      command: [ec]
      args:
        - validate
        - image
        - --json-input
        - $(params.IMAGES)
        - --policy
        - $(params.POLICY_CONFIGURATION)
        - --public-key
        - $(params.PUBLIC_KEY)
        - --strict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64592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A30000"/>
                </a:solidFill>
                <a:latin typeface="Arial"/>
              </a:rPr>
              <a:t>Strict Gating Execution Flow:</a:t>
            </a:r>
          </a:p>
          <a:p>
            <a:pPr>
              <a:spcBef>
                <a:spcPts val="1600"/>
              </a:spcBef>
              <a:spcAft>
                <a:spcPts val="800"/>
              </a:spcAft>
            </a:pPr>
            <a:r>
              <a:rPr sz="1600" b="1">
                <a:solidFill>
                  <a:srgbClr val="CC0000"/>
                </a:solidFill>
                <a:latin typeface="Arial"/>
              </a:rPr>
              <a:t>▸  Strict Flag: --strict makes any violation return non-zero exit. Pipeline stops.</a:t>
            </a:r>
            <a:r>
              <a:rPr sz="1600" b="1">
                <a:solidFill>
                  <a:srgbClr val="1E1E1E"/>
                </a:solidFill>
                <a:latin typeface="Arial"/>
              </a:rPr>
              <a:t/>
            </a:r>
            <a:r>
              <a:rPr sz="1600">
                <a:solidFill>
                  <a:srgbClr val="1E1E1E"/>
                </a:solidFill>
                <a:latin typeface="Arial"/>
              </a:rPr>
              <a:t/>
            </a:r>
          </a:p>
          <a:p>
            <a:pPr>
              <a:spcBef>
                <a:spcPts val="1600"/>
              </a:spcBef>
              <a:spcAft>
                <a:spcPts val="800"/>
              </a:spcAft>
            </a:pPr>
            <a:r>
              <a:rPr sz="1600" b="1">
                <a:solidFill>
                  <a:srgbClr val="CC0000"/>
                </a:solidFill>
                <a:latin typeface="Arial"/>
              </a:rPr>
              <a:t>▸  </a:t>
            </a:r>
            <a:r>
              <a:rPr sz="1600" b="1">
                <a:solidFill>
                  <a:srgbClr val="1E1E1E"/>
                </a:solidFill>
                <a:latin typeface="Arial"/>
              </a:rPr>
              <a:t>Failsafe Stopping: </a:t>
            </a:r>
            <a:r>
              <a:rPr sz="1600">
                <a:solidFill>
                  <a:srgbClr val="1E1E1E"/>
                </a:solidFill>
                <a:latin typeface="Arial"/>
              </a:rPr>
              <a:t>Pipeline halts on failure. No promotions occur.</a:t>
            </a:r>
          </a:p>
          <a:p>
            <a:pPr>
              <a:spcBef>
                <a:spcPts val="1600"/>
              </a:spcBef>
              <a:spcAft>
                <a:spcPts val="800"/>
              </a:spcAft>
            </a:pPr>
            <a:r>
              <a:rPr sz="1600" b="1">
                <a:solidFill>
                  <a:srgbClr val="CC0000"/>
                </a:solidFill>
                <a:latin typeface="Arial"/>
              </a:rPr>
              <a:t>▸  </a:t>
            </a:r>
            <a:r>
              <a:rPr sz="1600" b="1">
                <a:solidFill>
                  <a:srgbClr val="1E1E1E"/>
                </a:solidFill>
                <a:latin typeface="Arial"/>
              </a:rPr>
              <a:t>GitOps Native: </a:t>
            </a:r>
            <a:r>
              <a:rPr sz="1600">
                <a:solidFill>
                  <a:srgbClr val="1E1E1E"/>
                </a:solidFill>
                <a:latin typeface="Arial"/>
              </a:rPr>
              <a:t>Task configs live in Git alongside application code.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3840480"/>
            <a:ext cx="4846320" cy="10972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</a:pPr>
            <a:r>
              <a:rPr sz="1150" b="1">
                <a:solidFill>
                  <a:srgbClr val="1E1E1E"/>
                </a:solidFill>
                <a:latin typeface="Arial"/>
              </a:rPr>
              <a:t>[Build] ➔ [Attach SBOM] ➔ [Sign] ➔ [CONFORMA GATE] ➔ [Promote]
</a:t>
            </a:r>
          </a:p>
          <a:p>
            <a:pPr algn="ctr"/>
            <a:r>
              <a:rPr sz="1050" b="1">
                <a:solidFill>
                  <a:srgbClr val="CC0000"/>
                </a:solidFill>
                <a:latin typeface="Arial"/>
              </a:rPr>
              <a:t>PASS? continue pipeline  |  FAIL? pipeline immediately exits &amp; stops</a:t>
            </a:r>
          </a:p>
        </p:txBody>
      </p:sp>
      <p:pic>
        <p:nvPicPr>
          <p:cNvPr id="12" name="Picture 11" descr="page2-0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7120" y="6263640"/>
            <a:ext cx="594360" cy="44886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0"/>
            <a:ext cx="36576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" y="6309360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87878"/>
                </a:solidFill>
                <a:latin typeface="Arial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800" b="1">
                <a:solidFill>
                  <a:srgbClr val="A30000"/>
                </a:solidFill>
                <a:latin typeface="Arial"/>
              </a:rPr>
              <a:t/>
            </a:r>
          </a:p>
          <a:p>
            <a:pPr algn="ctr">
              <a:spcBef>
                <a:spcPts val="200"/>
              </a:spcBef>
            </a:pPr>
            <a:r>
              <a:rPr sz="1400">
                <a:solidFill>
                  <a:srgbClr val="787878"/>
                </a:solidFill>
                <a:latin typeface="Arial"/>
              </a:rPr>
              <a:t>Demo Setup &amp; Resources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1645920"/>
            <a:ext cx="9445752" cy="4114800"/>
          </a:xfrm>
          <a:prstGeom prst="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400"/>
              </a:spcBef>
              <a:spcAft>
                <a:spcPts val="1400"/>
              </a:spcAft>
            </a:pPr>
            <a:r>
              <a:rPr sz="2200" b="1">
                <a:solidFill>
                  <a:srgbClr val="A30000"/>
                </a:solidFill>
                <a:latin typeface="Arial"/>
              </a:rPr>
              <a:t>Environment Setup and Demo Assets:</a:t>
            </a:r>
          </a:p>
          <a:p>
            <a:pPr>
              <a:spcBef>
                <a:spcPts val="1600"/>
              </a:spcBef>
              <a:spcAft>
                <a:spcPts val="800"/>
              </a:spcAft>
            </a:pPr>
            <a:r>
              <a:rPr sz="1600" b="1">
                <a:solidFill>
                  <a:srgbClr val="CC0000"/>
                </a:solidFill>
                <a:latin typeface="Arial"/>
              </a:rPr>
              <a:t>▸  </a:t>
            </a:r>
            <a:r>
              <a:rPr sz="1600" b="1">
                <a:solidFill>
                  <a:srgbClr val="1E1E1E"/>
                </a:solidFill>
                <a:latin typeface="Arial"/>
              </a:rPr>
              <a:t>Conforma CLI: </a:t>
            </a:r>
            <a:r>
              <a:rPr sz="1600">
                <a:solidFill>
                  <a:srgbClr val="1E1E1E"/>
                </a:solidFill>
                <a:latin typeface="Arial"/>
              </a:rPr>
              <a:t>Latest Conforma CLI (`ec`).</a:t>
            </a:r>
          </a:p>
          <a:p>
            <a:pPr>
              <a:spcBef>
                <a:spcPts val="1600"/>
              </a:spcBef>
              <a:spcAft>
                <a:spcPts val="800"/>
              </a:spcAft>
            </a:pPr>
            <a:r>
              <a:rPr sz="1600" b="1">
                <a:solidFill>
                  <a:srgbClr val="CC0000"/>
                </a:solidFill>
                <a:latin typeface="Arial"/>
              </a:rPr>
              <a:t>▸  Golden Container: quay.io/konflux-ci/ec-golden-image:latest (real image, real signatures, real attestations).</a:t>
            </a:r>
            <a:r>
              <a:rPr sz="1600" b="1">
                <a:solidFill>
                  <a:srgbClr val="1E1E1E"/>
                </a:solidFill>
                <a:latin typeface="Arial"/>
              </a:rPr>
              <a:t/>
            </a:r>
            <a:r>
              <a:rPr sz="1600">
                <a:solidFill>
                  <a:srgbClr val="1E1E1E"/>
                </a:solidFill>
                <a:latin typeface="Arial"/>
              </a:rPr>
              <a:t/>
            </a:r>
          </a:p>
          <a:p>
            <a:pPr>
              <a:spcBef>
                <a:spcPts val="1600"/>
              </a:spcBef>
              <a:spcAft>
                <a:spcPts val="800"/>
              </a:spcAft>
            </a:pPr>
            <a:r>
              <a:rPr sz="1600" b="1">
                <a:solidFill>
                  <a:srgbClr val="CC0000"/>
                </a:solidFill>
                <a:latin typeface="Arial"/>
              </a:rPr>
              <a:t>▸  </a:t>
            </a:r>
            <a:r>
              <a:rPr sz="1600" b="1">
                <a:solidFill>
                  <a:srgbClr val="1E1E1E"/>
                </a:solidFill>
                <a:latin typeface="Arial"/>
              </a:rPr>
              <a:t>Demo Presets: </a:t>
            </a:r>
            <a:r>
              <a:rPr sz="1600">
                <a:solidFill>
                  <a:srgbClr val="1E1E1E"/>
                </a:solidFill>
                <a:latin typeface="Arial"/>
              </a:rPr>
              <a:t>Scripts at github.com/conforma/demos.</a:t>
            </a:r>
          </a:p>
          <a:p>
            <a:pPr algn="ctr">
              <a:spcBef>
                <a:spcPts val="2000"/>
              </a:spcBef>
            </a:pPr>
            <a:r>
              <a:rPr sz="1300" i="1">
                <a:solidFill>
                  <a:srgbClr val="CC0000"/>
                </a:solidFill>
                <a:latin typeface="Arial"/>
              </a:rPr>
              <a:t>Backup: pre-recorded asciinema sessions if network is down.</a:t>
            </a:r>
          </a:p>
        </p:txBody>
      </p:sp>
      <p:pic>
        <p:nvPicPr>
          <p:cNvPr id="8" name="Picture 7" descr="page2-0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7120" y="6263640"/>
            <a:ext cx="594360" cy="44886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0"/>
            <a:ext cx="36576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" y="6309360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87878"/>
                </a:solidFill>
                <a:latin typeface="Arial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800" b="1">
                <a:solidFill>
                  <a:srgbClr val="A30000"/>
                </a:solidFill>
                <a:latin typeface="Arial"/>
              </a:rPr>
              <a:t/>
            </a:r>
          </a:p>
          <a:p>
            <a:pPr algn="ctr">
              <a:spcBef>
                <a:spcPts val="200"/>
              </a:spcBef>
            </a:pPr>
            <a:r>
              <a:rPr sz="1400">
                <a:solidFill>
                  <a:srgbClr val="787878"/>
                </a:solidFill>
                <a:latin typeface="Arial"/>
              </a:rPr>
              <a:t>Demo 1: Validate Structured Input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3657600" cy="1463040"/>
          </a:xfrm>
          <a:prstGeom prst="rect">
            <a:avLst/>
          </a:prstGeom>
          <a:solidFill>
            <a:srgbClr val="F5F5F5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9164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E1E1E"/>
                </a:solidFill>
                <a:latin typeface="Courier New"/>
              </a:rPr>
              <a:t># input.yaml
animals:
  - name: Charlie
    species: dog
  - name: Luna
    species: cat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291840"/>
            <a:ext cx="3657600" cy="2468880"/>
          </a:xfrm>
          <a:prstGeom prst="rect">
            <a:avLst/>
          </a:prstGeom>
          <a:solidFill>
            <a:srgbClr val="F5F5F5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337560"/>
            <a:ext cx="3474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E1E1E"/>
                </a:solidFill>
                <a:latin typeface="Courier New"/>
              </a:rPr>
              <a:t># no-cats/main.rego
package main
# METADATA
# title: No cats
# custom:
#   short_name: no_cats
deny contains result if {
  some animal in input.animals
  animal.species == "cat"
  result := {
    "code":"main.no_cats",
    "msg": sprintf("A cat named %s was found!", [animal.name])
  }
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164592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A30000"/>
                </a:solidFill>
                <a:latin typeface="Arial"/>
              </a:rPr>
              <a:t>Run it: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63440" y="2194560"/>
            <a:ext cx="6675120" cy="1463040"/>
          </a:xfrm>
          <a:prstGeom prst="rect">
            <a:avLst/>
          </a:prstGeom>
          <a:solidFill>
            <a:srgbClr val="F5F5F5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0" y="2240280"/>
            <a:ext cx="6492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E1E1E"/>
                </a:solidFill>
                <a:latin typeface="Courier New"/>
              </a:rPr>
              <a:t>$ ec validate input --file input.yaml --policy policy.yaml
  # Outputs: A cat named Luna was found!
$ ec validate input --file input.yaml --policy policy.yaml --info
  # Shows verbose metadata &amp; compliance warnings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840480"/>
            <a:ext cx="6675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600"/>
              </a:spcBef>
              <a:spcAft>
                <a:spcPts val="800"/>
              </a:spcAft>
            </a:pPr>
            <a:r>
              <a:rPr sz="1600" b="1">
                <a:solidFill>
                  <a:srgbClr val="CC0000"/>
                </a:solidFill>
                <a:latin typeface="Arial"/>
              </a:rPr>
              <a:t>▸  </a:t>
            </a:r>
            <a:r>
              <a:rPr sz="1600" b="1">
                <a:solidFill>
                  <a:srgbClr val="1E1E1E"/>
                </a:solidFill>
                <a:latin typeface="Arial"/>
              </a:rPr>
              <a:t>Rego-based: </a:t>
            </a:r>
            <a:r>
              <a:rPr sz="1600">
                <a:solidFill>
                  <a:srgbClr val="1E1E1E"/>
                </a:solidFill>
                <a:latin typeface="Arial"/>
              </a:rPr>
              <a:t>Policies are Rego with metadata annotations.</a:t>
            </a:r>
          </a:p>
          <a:p>
            <a:pPr>
              <a:spcBef>
                <a:spcPts val="1600"/>
              </a:spcBef>
              <a:spcAft>
                <a:spcPts val="800"/>
              </a:spcAft>
            </a:pPr>
            <a:r>
              <a:rPr sz="1600" b="1">
                <a:solidFill>
                  <a:srgbClr val="CC0000"/>
                </a:solidFill>
                <a:latin typeface="Arial"/>
              </a:rPr>
              <a:t>▸  </a:t>
            </a:r>
            <a:r>
              <a:rPr sz="1600" b="1">
                <a:solidFill>
                  <a:srgbClr val="1E1E1E"/>
                </a:solidFill>
                <a:latin typeface="Arial"/>
              </a:rPr>
              <a:t>Soft Alerts: </a:t>
            </a:r>
            <a:r>
              <a:rPr sz="1600">
                <a:solidFill>
                  <a:srgbClr val="1E1E1E"/>
                </a:solidFill>
                <a:latin typeface="Arial"/>
              </a:rPr>
              <a:t>Warnings vs. violations for gradual rollout.</a:t>
            </a:r>
          </a:p>
          <a:p>
            <a:pPr>
              <a:spcBef>
                <a:spcPts val="1600"/>
              </a:spcBef>
              <a:spcAft>
                <a:spcPts val="800"/>
              </a:spcAft>
            </a:pPr>
            <a:r>
              <a:rPr sz="1600" b="1">
                <a:solidFill>
                  <a:srgbClr val="CC0000"/>
                </a:solidFill>
                <a:latin typeface="Arial"/>
              </a:rPr>
              <a:t>▸  </a:t>
            </a:r>
            <a:r>
              <a:rPr sz="1600" b="1">
                <a:solidFill>
                  <a:srgbClr val="1E1E1E"/>
                </a:solidFill>
                <a:latin typeface="Arial"/>
              </a:rPr>
              <a:t>Any Schema: </a:t>
            </a:r>
            <a:r>
              <a:rPr sz="1600">
                <a:solidFill>
                  <a:srgbClr val="1E1E1E"/>
                </a:solidFill>
                <a:latin typeface="Arial"/>
              </a:rPr>
              <a:t>Validates any structured data, not just images.</a:t>
            </a:r>
          </a:p>
        </p:txBody>
      </p:sp>
      <p:pic>
        <p:nvPicPr>
          <p:cNvPr id="15" name="Picture 14" descr="page2-0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7120" y="6263640"/>
            <a:ext cx="594360" cy="44886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0"/>
            <a:ext cx="36576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" y="6309360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87878"/>
                </a:solidFill>
                <a:latin typeface="Arial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800" b="1">
                <a:solidFill>
                  <a:srgbClr val="A30000"/>
                </a:solidFill>
                <a:latin typeface="Arial"/>
              </a:rPr>
              <a:t/>
            </a:r>
          </a:p>
          <a:p>
            <a:pPr algn="ctr">
              <a:spcBef>
                <a:spcPts val="200"/>
              </a:spcBef>
            </a:pPr>
            <a:r>
              <a:rPr sz="1400">
                <a:solidFill>
                  <a:srgbClr val="787878"/>
                </a:solidFill>
                <a:latin typeface="Arial"/>
              </a:rPr>
              <a:t>Demo 2: Real-World Image Validation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5943600" cy="4114800"/>
          </a:xfrm>
          <a:prstGeom prst="rect">
            <a:avLst/>
          </a:prstGeom>
          <a:solidFill>
            <a:srgbClr val="F5F5F5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91640"/>
            <a:ext cx="5760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E1E1E"/>
                </a:solidFill>
                <a:latin typeface="Courier New"/>
              </a:rPr>
              <a:t>IMAGE="quay.io/konflux-ci/ec-golden-image:latest"
# 1. Standard Passing Validation
$ ec validate image \
    --image $IMAGE \
    --policy github.com/conforma/config//default \
    --public-key cosign.pub \
    --show-successes --info --ignore-rekor
# 2. Simulated Source Correlation Attack (Mismatch)
$ ec validate image \
    --json-input '{"components":[{
       "name":"golden-container",
       "containerImage":"$IMAGE",
       "source":{"git":{
         "url":"https://github.com/miscreant/mischief",
         "revision":"cafebabe"
       }}
     }]}' \
    --policy github.com/conforma/config//default \
    --public-key cosign.pub --ignore-rekor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164592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A30000"/>
                </a:solidFill>
                <a:latin typeface="Arial"/>
              </a:rPr>
              <a:t>Critical Takeaways:</a:t>
            </a:r>
          </a:p>
          <a:p>
            <a:pPr>
              <a:spcBef>
                <a:spcPts val="1600"/>
              </a:spcBef>
              <a:spcAft>
                <a:spcPts val="800"/>
              </a:spcAft>
            </a:pPr>
            <a:r>
              <a:rPr sz="1600" b="1">
                <a:solidFill>
                  <a:srgbClr val="CC0000"/>
                </a:solidFill>
                <a:latin typeface="Arial"/>
              </a:rPr>
              <a:t>▸  Signed != Trusted: A valid signature proves ownership, not compliance.</a:t>
            </a:r>
            <a:r>
              <a:rPr sz="1600" b="1">
                <a:solidFill>
                  <a:srgbClr val="1E1E1E"/>
                </a:solidFill>
                <a:latin typeface="Arial"/>
              </a:rPr>
              <a:t/>
            </a:r>
            <a:r>
              <a:rPr sz="1600">
                <a:solidFill>
                  <a:srgbClr val="1E1E1E"/>
                </a:solidFill>
                <a:latin typeface="Arial"/>
              </a:rPr>
              <a:t/>
            </a:r>
          </a:p>
          <a:p>
            <a:pPr>
              <a:spcBef>
                <a:spcPts val="1600"/>
              </a:spcBef>
              <a:spcAft>
                <a:spcPts val="800"/>
              </a:spcAft>
            </a:pPr>
            <a:r>
              <a:rPr sz="1600" b="1">
                <a:solidFill>
                  <a:srgbClr val="CC0000"/>
                </a:solidFill>
                <a:latin typeface="Arial"/>
              </a:rPr>
              <a:t>▸  Attack: Image is real and signed, but we lied about where the source came from.</a:t>
            </a:r>
            <a:r>
              <a:rPr sz="1600" b="1">
                <a:solidFill>
                  <a:srgbClr val="1E1E1E"/>
                </a:solidFill>
                <a:latin typeface="Arial"/>
              </a:rPr>
              <a:t/>
            </a:r>
            <a:r>
              <a:rPr sz="1600">
                <a:solidFill>
                  <a:srgbClr val="1E1E1E"/>
                </a:solidFill>
                <a:latin typeface="Arial"/>
              </a:rPr>
              <a:t/>
            </a:r>
          </a:p>
          <a:p>
            <a:pPr>
              <a:spcBef>
                <a:spcPts val="1600"/>
              </a:spcBef>
              <a:spcAft>
                <a:spcPts val="800"/>
              </a:spcAft>
            </a:pPr>
            <a:r>
              <a:rPr sz="1600" b="1">
                <a:solidFill>
                  <a:srgbClr val="CC0000"/>
                </a:solidFill>
                <a:latin typeface="Arial"/>
              </a:rPr>
              <a:t>▸  Source Correlation: Conforma checks declared source against provenance materials. Mismatch = fail.</a:t>
            </a:r>
            <a:r>
              <a:rPr sz="1600" b="1">
                <a:solidFill>
                  <a:srgbClr val="1E1E1E"/>
                </a:solidFill>
                <a:latin typeface="Arial"/>
              </a:rPr>
              <a:t/>
            </a:r>
            <a:r>
              <a:rPr sz="1600">
                <a:solidFill>
                  <a:srgbClr val="1E1E1E"/>
                </a:solidFill>
                <a:latin typeface="Arial"/>
              </a:rPr>
              <a:t/>
            </a:r>
          </a:p>
        </p:txBody>
      </p:sp>
      <p:pic>
        <p:nvPicPr>
          <p:cNvPr id="10" name="Picture 9" descr="page2-0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7120" y="6263640"/>
            <a:ext cx="594360" cy="44886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0"/>
            <a:ext cx="36576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" y="6309360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87878"/>
                </a:solidFill>
                <a:latin typeface="Arial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800" b="1">
                <a:solidFill>
                  <a:srgbClr val="A30000"/>
                </a:solidFill>
                <a:latin typeface="Arial"/>
              </a:rPr>
              <a:t/>
            </a:r>
          </a:p>
          <a:p>
            <a:pPr algn="ctr">
              <a:spcBef>
                <a:spcPts val="200"/>
              </a:spcBef>
            </a:pPr>
            <a:r>
              <a:rPr sz="1400">
                <a:solidFill>
                  <a:srgbClr val="787878"/>
                </a:solidFill>
                <a:latin typeface="Arial"/>
              </a:rPr>
              <a:t>Demo 3: Custom Policy Tuning with ruleData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5120640" cy="4114800"/>
          </a:xfrm>
          <a:prstGeom prst="rect">
            <a:avLst/>
          </a:prstGeom>
          <a:solidFill>
            <a:srgbClr val="F5F5F5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91640"/>
            <a:ext cx="4937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E1E1E"/>
                </a:solidFill>
                <a:latin typeface="Courier New"/>
              </a:rPr>
              <a:t># rules/github.rego
package custom
import rego.v1
# METADATA
# custom:
#   short_name: git_origin_restriction
deny contains result if {
  # Dynamic parameter fetched from policy config:
  allowed_origin := data.rule_data__configuration__
                    .allowed_github_origins
  allowed_uri := sprintf("git+https://github.com/%s/",
                         [allowed_origin])
  some attestation in input.attestations
  found := [ m | some m in attestation
                 .statement.predicate.materials
                 startswith(m.uri, allowed_uri) ]
  count(found) == 0
  result := {
    "code": "custom.git_origin_restriction",
    "msg": sprintf("Source not from %s org",
                   [allowed_origin])
  }
}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1645920"/>
            <a:ext cx="5394960" cy="1463040"/>
          </a:xfrm>
          <a:prstGeom prst="rect">
            <a:avLst/>
          </a:prstGeom>
          <a:solidFill>
            <a:srgbClr val="F5F5F5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1691640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E1E1E"/>
                </a:solidFill>
                <a:latin typeface="Courier New"/>
              </a:rPr>
              <a:t># policy.yaml
sources:
  - policy: [ ./rules ]
    ruleData:
      allowed_github_origins: conforma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3291840"/>
            <a:ext cx="5394960" cy="2468880"/>
          </a:xfrm>
          <a:prstGeom prst="rect">
            <a:avLst/>
          </a:prstGeom>
          <a:solidFill>
            <a:srgbClr val="F5F5F5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3337560"/>
            <a:ext cx="52120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E1E1E"/>
                </a:solidFill>
                <a:latin typeface="Courier New"/>
              </a:rPr>
              <a:t># Passes successfully (source originates from conforma org)
$ ec validate image --image $IMAGE --policy policy.yaml --show-successes --info
# Change allowed organization using yq
$ yq -i '.sources[0].ruleData.allowed_github_origins = "acme-org"' policy.yaml
# Now fails with custom violation message
$ ec validate image --image $IMAGE --policy policy.yaml --info</a:t>
            </a:r>
          </a:p>
        </p:txBody>
      </p:sp>
      <p:pic>
        <p:nvPicPr>
          <p:cNvPr id="13" name="Picture 12" descr="page2-0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7120" y="6263640"/>
            <a:ext cx="594360" cy="44886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0"/>
            <a:ext cx="36576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" y="6309360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87878"/>
                </a:solidFill>
                <a:latin typeface="Arial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800" b="1">
                <a:solidFill>
                  <a:srgbClr val="A30000"/>
                </a:solidFill>
                <a:latin typeface="Arial"/>
              </a:rPr>
              <a:t/>
            </a:r>
          </a:p>
          <a:p>
            <a:pPr algn="ctr">
              <a:spcBef>
                <a:spcPts val="200"/>
              </a:spcBef>
            </a:pPr>
            <a:r>
              <a:rPr sz="1400">
                <a:solidFill>
                  <a:srgbClr val="787878"/>
                </a:solidFill>
                <a:latin typeface="Arial"/>
              </a:rPr>
              <a:t>Demo 4: Grace Periods via effective_on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5120640" cy="4114800"/>
          </a:xfrm>
          <a:prstGeom prst="rect">
            <a:avLst/>
          </a:prstGeom>
          <a:solidFill>
            <a:srgbClr val="F5F5F5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91640"/>
            <a:ext cx="4937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E1E1E"/>
                </a:solidFill>
                <a:latin typeface="Courier New"/>
              </a:rPr>
              <a:t># future_deny.rego
package main
# METADATA
# title: Future requirement
# custom:
#   short_name: future_check
#   effective_on: "2099-01-01T00:00:00Z"
deny contains result if {
  result := {
    "code":"main.future_check",
    "msg":"This will be required in the future"
  }
}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1645920"/>
            <a:ext cx="5394960" cy="2011680"/>
          </a:xfrm>
          <a:prstGeom prst="rect">
            <a:avLst/>
          </a:prstGeom>
          <a:solidFill>
            <a:srgbClr val="F5F5F5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1691640"/>
            <a:ext cx="52120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E1E1E"/>
                </a:solidFill>
                <a:latin typeface="Courier New"/>
              </a:rPr>
              <a:t># 1. Running today (Rule is a warning, returns EXIT 0)
$ ec validate input --file input.yaml --policy policy.yaml --info
  -&gt; Result: WARNING: 'This will be required in the future'
# 2. Simulating the future date (Rule is active, returns EXIT 1)
$ ec validate input --file input.yaml --policy policy.yaml --info \
    --effective-time 2100-01-01T12:00:00Z
  -&gt; Result: VIOLATION: 'This will be required in the future'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3840480"/>
            <a:ext cx="5394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600"/>
              </a:spcBef>
              <a:spcAft>
                <a:spcPts val="800"/>
              </a:spcAft>
            </a:pPr>
            <a:r>
              <a:rPr sz="1600" b="1">
                <a:solidFill>
                  <a:srgbClr val="CC0000"/>
                </a:solidFill>
                <a:latin typeface="Arial"/>
              </a:rPr>
              <a:t>▸  </a:t>
            </a:r>
            <a:r>
              <a:rPr sz="1600" b="1">
                <a:solidFill>
                  <a:srgbClr val="1E1E1E"/>
                </a:solidFill>
                <a:latin typeface="Arial"/>
              </a:rPr>
              <a:t>Automated Warnings: </a:t>
            </a:r>
            <a:r>
              <a:rPr sz="1600">
                <a:solidFill>
                  <a:srgbClr val="1E1E1E"/>
                </a:solidFill>
                <a:latin typeface="Arial"/>
              </a:rPr>
              <a:t>Future-dated rules automatically report as warnings today.</a:t>
            </a:r>
          </a:p>
          <a:p>
            <a:pPr>
              <a:spcBef>
                <a:spcPts val="1600"/>
              </a:spcBef>
              <a:spcAft>
                <a:spcPts val="800"/>
              </a:spcAft>
            </a:pPr>
            <a:r>
              <a:rPr sz="1600" b="1">
                <a:solidFill>
                  <a:srgbClr val="CC0000"/>
                </a:solidFill>
                <a:latin typeface="Arial"/>
              </a:rPr>
              <a:t>▸  </a:t>
            </a:r>
            <a:r>
              <a:rPr sz="1600" b="1">
                <a:solidFill>
                  <a:srgbClr val="1E1E1E"/>
                </a:solidFill>
                <a:latin typeface="Arial"/>
              </a:rPr>
              <a:t>Escalating Enforcement: </a:t>
            </a:r>
            <a:r>
              <a:rPr sz="1600">
                <a:solidFill>
                  <a:srgbClr val="1E1E1E"/>
                </a:solidFill>
                <a:latin typeface="Arial"/>
              </a:rPr>
              <a:t>After the date, warnings become blocking violations.</a:t>
            </a:r>
          </a:p>
          <a:p>
            <a:pPr>
              <a:spcBef>
                <a:spcPts val="1600"/>
              </a:spcBef>
              <a:spcAft>
                <a:spcPts val="800"/>
              </a:spcAft>
            </a:pPr>
            <a:r>
              <a:rPr sz="1600" b="1">
                <a:solidFill>
                  <a:srgbClr val="CC0000"/>
                </a:solidFill>
                <a:latin typeface="Arial"/>
              </a:rPr>
              <a:t>▸  </a:t>
            </a:r>
            <a:r>
              <a:rPr sz="1600" b="1">
                <a:solidFill>
                  <a:srgbClr val="1E1E1E"/>
                </a:solidFill>
                <a:latin typeface="Arial"/>
              </a:rPr>
              <a:t>Zero Flag-Days: </a:t>
            </a:r>
            <a:r>
              <a:rPr sz="1600">
                <a:solidFill>
                  <a:srgbClr val="1E1E1E"/>
                </a:solidFill>
                <a:latin typeface="Arial"/>
              </a:rPr>
              <a:t>Teams get advance notice. No flag-day surprises.</a:t>
            </a:r>
          </a:p>
        </p:txBody>
      </p:sp>
      <p:pic>
        <p:nvPicPr>
          <p:cNvPr id="12" name="Picture 11" descr="page2-0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7120" y="6263640"/>
            <a:ext cx="594360" cy="44886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0"/>
            <a:ext cx="36576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" y="6309360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87878"/>
                </a:solidFill>
                <a:latin typeface="Arial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800" b="1">
                <a:solidFill>
                  <a:srgbClr val="A30000"/>
                </a:solidFill>
                <a:latin typeface="Arial"/>
              </a:rPr>
              <a:t/>
            </a:r>
          </a:p>
          <a:p>
            <a:pPr algn="ctr">
              <a:spcBef>
                <a:spcPts val="200"/>
              </a:spcBef>
            </a:pPr>
            <a:r>
              <a:rPr sz="1400">
                <a:solidFill>
                  <a:srgbClr val="787878"/>
                </a:solidFill>
                <a:latin typeface="Arial"/>
              </a:rPr>
              <a:t>Resolving the Gaps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645920"/>
          <a:ext cx="107899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786384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Initial Security Gap (Slide 3)</a:t>
                      </a:r>
                    </a:p>
                  </a:txBody>
                  <a:tcPr anchor="ctr">
                    <a:solidFill>
                      <a:srgbClr val="A3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How Conforma Actively Resolves It</a:t>
                      </a:r>
                    </a:p>
                  </a:txBody>
                  <a:tcPr anchor="ctr">
                    <a:solidFill>
                      <a:srgbClr val="A3000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E1E1E"/>
                          </a:solidFill>
                          <a:latin typeface="Arial"/>
                        </a:rPr>
                        <a:t>Stale / Incomplete SBOM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E1E1E"/>
                          </a:solidFill>
                          <a:latin typeface="Arial"/>
                        </a:rPr>
                        <a:t>SBOM content hygiene policies verify component lists match expected build profiles.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E1E1E"/>
                          </a:solidFill>
                          <a:latin typeface="Arial"/>
                        </a:rPr>
                        <a:t>Untrusted Build Origin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E1E1E"/>
                          </a:solidFill>
                          <a:latin typeface="Arial"/>
                        </a:rPr>
                        <a:t>SLSA provenance verification ensures builds only originate from trusted CI systems.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E1E1E"/>
                          </a:solidFill>
                          <a:latin typeface="Arial"/>
                        </a:rPr>
                        <a:t>Post-Scan Vulnerability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E1E1E"/>
                          </a:solidFill>
                          <a:latin typeface="Arial"/>
                        </a:rPr>
                        <a:t>Conforma re-evaluates CVE threshold policies at each deployment gate, not just during build.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E1E1E"/>
                          </a:solidFill>
                          <a:latin typeface="Arial"/>
                        </a:rPr>
                        <a:t>Restrictive License Spill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E1E1E"/>
                          </a:solidFill>
                          <a:latin typeface="Arial"/>
                        </a:rPr>
                        <a:t>License scanning policies actively block any restrictive AGPL licenses in the dependency list.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4023360"/>
            <a:ext cx="10789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CC0000"/>
                </a:solidFill>
                <a:latin typeface="Arial"/>
              </a:rPr>
              <a:t>Key Takeaways:</a:t>
            </a:r>
          </a:p>
          <a:p>
            <a:pPr>
              <a:spcBef>
                <a:spcPts val="1600"/>
              </a:spcBef>
              <a:spcAft>
                <a:spcPts val="800"/>
              </a:spcAft>
            </a:pPr>
            <a:r>
              <a:rPr sz="1600" b="1">
                <a:solidFill>
                  <a:srgbClr val="CC0000"/>
                </a:solidFill>
                <a:latin typeface="Arial"/>
              </a:rPr>
              <a:t>▸  Evidence without enforcement is theater.</a:t>
            </a:r>
            <a:r>
              <a:rPr sz="1600" b="1">
                <a:solidFill>
                  <a:srgbClr val="1E1E1E"/>
                </a:solidFill>
                <a:latin typeface="Arial"/>
              </a:rPr>
              <a:t/>
            </a:r>
            <a:r>
              <a:rPr sz="1600">
                <a:solidFill>
                  <a:srgbClr val="1E1E1E"/>
                </a:solidFill>
                <a:latin typeface="Arial"/>
              </a:rPr>
              <a:t/>
            </a:r>
          </a:p>
          <a:p>
            <a:pPr>
              <a:spcBef>
                <a:spcPts val="1600"/>
              </a:spcBef>
              <a:spcAft>
                <a:spcPts val="800"/>
              </a:spcAft>
            </a:pPr>
            <a:r>
              <a:rPr sz="1600" b="1">
                <a:solidFill>
                  <a:srgbClr val="CC0000"/>
                </a:solidFill>
                <a:latin typeface="Arial"/>
              </a:rPr>
              <a:t>▸  Policies in Git: versioned, reviewed, testable.</a:t>
            </a:r>
            <a:r>
              <a:rPr sz="1600" b="1">
                <a:solidFill>
                  <a:srgbClr val="1E1E1E"/>
                </a:solidFill>
                <a:latin typeface="Arial"/>
              </a:rPr>
              <a:t/>
            </a:r>
            <a:r>
              <a:rPr sz="1600">
                <a:solidFill>
                  <a:srgbClr val="1E1E1E"/>
                </a:solidFill>
                <a:latin typeface="Arial"/>
              </a:rPr>
              <a:t/>
            </a:r>
          </a:p>
          <a:p>
            <a:pPr>
              <a:spcBef>
                <a:spcPts val="1600"/>
              </a:spcBef>
              <a:spcAft>
                <a:spcPts val="800"/>
              </a:spcAft>
            </a:pPr>
            <a:r>
              <a:rPr sz="1600" b="1">
                <a:solidFill>
                  <a:srgbClr val="CC0000"/>
                </a:solidFill>
                <a:latin typeface="Arial"/>
              </a:rPr>
              <a:t>▸  Deterministic: same image + same policy = same result. Auditable.</a:t>
            </a:r>
            <a:r>
              <a:rPr sz="1600" b="1">
                <a:solidFill>
                  <a:srgbClr val="1E1E1E"/>
                </a:solidFill>
                <a:latin typeface="Arial"/>
              </a:rPr>
              <a:t/>
            </a:r>
            <a:r>
              <a:rPr sz="1600">
                <a:solidFill>
                  <a:srgbClr val="1E1E1E"/>
                </a:solidFill>
                <a:latin typeface="Arial"/>
              </a:rPr>
              <a:t/>
            </a:r>
          </a:p>
        </p:txBody>
      </p:sp>
      <p:pic>
        <p:nvPicPr>
          <p:cNvPr id="9" name="Picture 8" descr="page2-0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7120" y="6263640"/>
            <a:ext cx="594360" cy="44886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0"/>
            <a:ext cx="36576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" y="6309360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87878"/>
                </a:solidFill>
                <a:latin typeface="Arial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800" b="1">
                <a:solidFill>
                  <a:srgbClr val="A30000"/>
                </a:solidFill>
                <a:latin typeface="Arial"/>
              </a:rPr>
              <a:t/>
            </a:r>
          </a:p>
          <a:p>
            <a:pPr algn="ctr">
              <a:spcBef>
                <a:spcPts val="200"/>
              </a:spcBef>
            </a:pPr>
            <a:r>
              <a:rPr sz="1400">
                <a:solidFill>
                  <a:srgbClr val="787878"/>
                </a:solidFill>
                <a:latin typeface="Arial"/>
              </a:rPr>
              <a:t>Getting Started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5669280" cy="4114800"/>
          </a:xfrm>
          <a:prstGeom prst="rect">
            <a:avLst/>
          </a:prstGeom>
          <a:solidFill>
            <a:srgbClr val="F5F5F5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9164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E1E1E"/>
                </a:solidFill>
                <a:latin typeface="Courier New"/>
              </a:rPr>
              <a:t># 1. Install Conforma CLI
brew install conforma/tap/ec
# (Alternative binaries at github.com/conforma/cli)
# 2. Validate a Container Image
ec validate image \
  --image quay.io/konflux-ci/ec-golden-image:latest \
  --policy github.com/conforma/config//default \
  --public-key cosign.pub
# 3. Validate Local YAML Data
ec validate input --file data.yaml --policy ./policies/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164592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A30000"/>
                </a:solidFill>
                <a:latin typeface="Arial"/>
              </a:rPr>
              <a:t>Documentation and Repositories:</a:t>
            </a:r>
          </a:p>
          <a:p>
            <a:pPr>
              <a:spcBef>
                <a:spcPts val="1600"/>
              </a:spcBef>
              <a:spcAft>
                <a:spcPts val="800"/>
              </a:spcAft>
            </a:pPr>
            <a:r>
              <a:rPr sz="1600" b="1">
                <a:solidFill>
                  <a:srgbClr val="CC0000"/>
                </a:solidFill>
                <a:latin typeface="Arial"/>
              </a:rPr>
              <a:t>▸  </a:t>
            </a:r>
            <a:r>
              <a:rPr sz="1600" b="1">
                <a:solidFill>
                  <a:srgbClr val="1E1E1E"/>
                </a:solidFill>
                <a:latin typeface="Arial"/>
              </a:rPr>
              <a:t>conforma.dev: </a:t>
            </a:r>
            <a:r>
              <a:rPr sz="1600">
                <a:solidFill>
                  <a:srgbClr val="1E1E1E"/>
                </a:solidFill>
                <a:latin typeface="Arial"/>
              </a:rPr>
              <a:t>Docs and getting started guides.</a:t>
            </a:r>
          </a:p>
          <a:p>
            <a:pPr>
              <a:spcBef>
                <a:spcPts val="1600"/>
              </a:spcBef>
              <a:spcAft>
                <a:spcPts val="800"/>
              </a:spcAft>
            </a:pPr>
            <a:r>
              <a:rPr sz="1600" b="1">
                <a:solidFill>
                  <a:srgbClr val="CC0000"/>
                </a:solidFill>
                <a:latin typeface="Arial"/>
              </a:rPr>
              <a:t>▸  </a:t>
            </a:r>
            <a:r>
              <a:rPr sz="1600" b="1">
                <a:solidFill>
                  <a:srgbClr val="1E1E1E"/>
                </a:solidFill>
                <a:latin typeface="Arial"/>
              </a:rPr>
              <a:t>github.com/conforma/cli: </a:t>
            </a:r>
            <a:r>
              <a:rPr sz="1600">
                <a:solidFill>
                  <a:srgbClr val="1E1E1E"/>
                </a:solidFill>
                <a:latin typeface="Arial"/>
              </a:rPr>
              <a:t>CLI source and releases.</a:t>
            </a:r>
          </a:p>
          <a:p>
            <a:pPr>
              <a:spcBef>
                <a:spcPts val="1600"/>
              </a:spcBef>
              <a:spcAft>
                <a:spcPts val="800"/>
              </a:spcAft>
            </a:pPr>
            <a:r>
              <a:rPr sz="1600" b="1">
                <a:solidFill>
                  <a:srgbClr val="CC0000"/>
                </a:solidFill>
                <a:latin typeface="Arial"/>
              </a:rPr>
              <a:t>▸  </a:t>
            </a:r>
            <a:r>
              <a:rPr sz="1600" b="1">
                <a:solidFill>
                  <a:srgbClr val="1E1E1E"/>
                </a:solidFill>
                <a:latin typeface="Arial"/>
              </a:rPr>
              <a:t>github.com/conforma/demos: </a:t>
            </a:r>
            <a:r>
              <a:rPr sz="1600">
                <a:solidFill>
                  <a:srgbClr val="1E1E1E"/>
                </a:solidFill>
                <a:latin typeface="Arial"/>
              </a:rPr>
              <a:t>Demo scripts (including today's).</a:t>
            </a:r>
          </a:p>
          <a:p>
            <a:pPr>
              <a:spcBef>
                <a:spcPts val="1600"/>
              </a:spcBef>
              <a:spcAft>
                <a:spcPts val="800"/>
              </a:spcAft>
            </a:pPr>
            <a:r>
              <a:rPr sz="1600" b="1">
                <a:solidFill>
                  <a:srgbClr val="CC0000"/>
                </a:solidFill>
                <a:latin typeface="Arial"/>
              </a:rPr>
              <a:t>▸  </a:t>
            </a:r>
            <a:r>
              <a:rPr sz="1600" b="1">
                <a:solidFill>
                  <a:srgbClr val="1E1E1E"/>
                </a:solidFill>
                <a:latin typeface="Arial"/>
              </a:rPr>
              <a:t>github.com/conforma/config: </a:t>
            </a:r>
            <a:r>
              <a:rPr sz="1600">
                <a:solidFill>
                  <a:srgbClr val="1E1E1E"/>
                </a:solidFill>
                <a:latin typeface="Arial"/>
              </a:rPr>
              <a:t>Policy presets (ready to use).</a:t>
            </a:r>
          </a:p>
          <a:p>
            <a:pPr algn="l">
              <a:spcBef>
                <a:spcPts val="1200"/>
              </a:spcBef>
            </a:pPr>
            <a:r>
              <a:rPr sz="1250" b="1">
                <a:solidFill>
                  <a:srgbClr val="1E1E1E"/>
                </a:solidFill>
                <a:latin typeface="Arial"/>
              </a:rPr>
              <a:t>Deep Dives by the Community:
▸ Stefano @ FOSDEM 2026 (SBOM details)
▸ Zoran @ SOSS EU 2024 (Tekton mechanics)
▸ Ask an OpenShift Expert Episode 169</a:t>
            </a:r>
          </a:p>
        </p:txBody>
      </p:sp>
      <p:pic>
        <p:nvPicPr>
          <p:cNvPr id="10" name="Picture 9" descr="page2-0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7120" y="6263640"/>
            <a:ext cx="594360" cy="44886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0"/>
            <a:ext cx="36576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" y="6309360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87878"/>
                </a:solidFill>
                <a:latin typeface="Arial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800" b="1">
                <a:solidFill>
                  <a:srgbClr val="A30000"/>
                </a:solidFill>
                <a:latin typeface="Arial"/>
              </a:rPr>
              <a:t/>
            </a:r>
          </a:p>
          <a:p>
            <a:pPr algn="ctr">
              <a:spcBef>
                <a:spcPts val="200"/>
              </a:spcBef>
            </a:pPr>
            <a:r>
              <a:rPr sz="1400">
                <a:solidFill>
                  <a:srgbClr val="787878"/>
                </a:solidFill>
                <a:latin typeface="Arial"/>
              </a:rPr>
              <a:t>Questions &amp; Discussions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1645920"/>
            <a:ext cx="9445752" cy="4114800"/>
          </a:xfrm>
          <a:prstGeom prst="rect">
            <a:avLst/>
          </a:prstGeom>
          <a:solidFill>
            <a:srgbClr val="F5F5F5"/>
          </a:solidFill>
          <a:ln w="1905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0"/>
              </a:spcBef>
              <a:spcAft>
                <a:spcPts val="2400"/>
              </a:spcAft>
            </a:pPr>
            <a:r>
              <a:rPr sz="3200" b="1">
                <a:solidFill>
                  <a:srgbClr val="A30000"/>
                </a:solidFill>
                <a:latin typeface="Arial"/>
              </a:rPr>
              <a:t>Questions &amp; Discussions</a:t>
            </a:r>
          </a:p>
          <a:p>
            <a:pPr algn="ctr">
              <a:spcAft>
                <a:spcPts val="1600"/>
              </a:spcAft>
            </a:pPr>
            <a:r>
              <a:rPr sz="1800" b="1">
                <a:solidFill>
                  <a:srgbClr val="1E1E1E"/>
                </a:solidFill>
                <a:latin typeface="Arial"/>
              </a:rPr>
              <a:t>Simon Baird
sbaird@redhat.com
</a:t>
            </a:r>
            <a:r>
              <a:rPr sz="1800" b="1">
                <a:solidFill>
                  <a:srgbClr val="1E1E1E"/>
                </a:solidFill>
                <a:latin typeface="Arial"/>
              </a:rPr>
              <a:t>Cuiping Huo
chuo@redhat.com
</a:t>
            </a:r>
          </a:p>
          <a:p>
            <a:pPr algn="ctr">
              <a:spcBef>
                <a:spcPts val="1000"/>
              </a:spcBef>
            </a:pPr>
            <a:r>
              <a:rPr sz="1600" b="1">
                <a:solidFill>
                  <a:srgbClr val="CC0000"/>
                </a:solidFill>
                <a:latin typeface="Arial"/>
              </a:rPr>
              <a:t>conforma.dev  |  github.com/conforma</a:t>
            </a:r>
          </a:p>
        </p:txBody>
      </p:sp>
      <p:pic>
        <p:nvPicPr>
          <p:cNvPr id="8" name="Picture 7" descr="page2-0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7120" y="6263640"/>
            <a:ext cx="594360" cy="44886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